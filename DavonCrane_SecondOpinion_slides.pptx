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Critic on</c:v>
                </c:pt>
              </c:strCache>
            </c:strRef>
          </c:tx>
          <c:spPr>
            <a:solidFill>
              <a:srgbClr val="16324F"/>
            </a:solidFill>
            <a:effectLst/>
          </c:spPr>
          <c:invertIfNegative val="0"/>
          <c:dLbls>
            <c:numFmt formatCode="#,##0" sourceLinked="0"/>
            <c:txPr>
              <a:bodyPr/>
              <a:lstStyle/>
              <a:p>
                <a:pPr>
                  <a:defRPr b="0" i="0" strike="noStrike" sz="900" u="none">
                    <a:solidFill>
                      <a:srgbClr val="1A2332"/>
                    </a:solidFill>
                    <a:latin typeface="Arial"/>
                  </a:defRPr>
                </a:pPr>
              </a:p>
            </c:txPr>
            <c:showLegendKey val="0"/>
            <c:showVal val="1"/>
            <c:showCatName val="0"/>
            <c:showSerName val="0"/>
            <c:showPercent val="0"/>
            <c:showBubbleSize val="0"/>
            <c:showLeaderLines val="0"/>
          </c:dLbls>
          <c:cat>
            <c:multiLvlStrRef>
              <c:f>Sheet1!$A$2:$A$4</c:f>
              <c:multiLvlStrCache>
                <c:ptCount val="3"/>
                <c:lvl>
                  <c:pt idx="0">
                    <c:v>Cost ($ ×100)</c:v>
                  </c:pt>
                  <c:pt idx="1">
                    <c:v>Latency (s)</c:v>
                  </c:pt>
                  <c:pt idx="2">
                    <c:v>Coverage (×100)</c:v>
                  </c:pt>
                </c:lvl>
              </c:multiLvlStrCache>
            </c:multiLvlStrRef>
          </c:cat>
          <c:val>
            <c:numRef>
              <c:f>Sheet1!$B$2:$B$4</c:f>
              <c:numCache>
                <c:formatCode>General</c:formatCode>
                <c:ptCount val="3"/>
                <c:pt idx="0">
                  <c:v>11.2</c:v>
                </c:pt>
                <c:pt idx="1">
                  <c:v>59.5</c:v>
                </c:pt>
                <c:pt idx="2">
                  <c:v>92.9</c:v>
                </c:pt>
              </c:numCache>
            </c:numRef>
          </c:val>
        </c:ser>
        <c:ser>
          <c:idx val="1"/>
          <c:order val="1"/>
          <c:tx>
            <c:strRef>
              <c:f>Sheet1!$C$1</c:f>
              <c:strCache>
                <c:ptCount val="1"/>
                <c:pt idx="0">
                  <c:v>Critic off</c:v>
                </c:pt>
              </c:strCache>
            </c:strRef>
          </c:tx>
          <c:spPr>
            <a:solidFill>
              <a:srgbClr val="B5893A"/>
            </a:solidFill>
            <a:effectLst/>
          </c:spPr>
          <c:invertIfNegative val="0"/>
          <c:dLbls>
            <c:numFmt formatCode="#,##0" sourceLinked="0"/>
            <c:txPr>
              <a:bodyPr/>
              <a:lstStyle/>
              <a:p>
                <a:pPr>
                  <a:defRPr b="0" i="0" strike="noStrike" sz="900" u="none">
                    <a:solidFill>
                      <a:srgbClr val="1A2332"/>
                    </a:solidFill>
                    <a:latin typeface="Arial"/>
                  </a:defRPr>
                </a:pPr>
              </a:p>
            </c:txPr>
            <c:showLegendKey val="0"/>
            <c:showVal val="1"/>
            <c:showCatName val="0"/>
            <c:showSerName val="0"/>
            <c:showPercent val="0"/>
            <c:showBubbleSize val="0"/>
            <c:showLeaderLines val="0"/>
          </c:dLbls>
          <c:cat>
            <c:multiLvlStrRef>
              <c:f>Sheet1!$A$2:$A$4</c:f>
              <c:multiLvlStrCache>
                <c:ptCount val="3"/>
                <c:lvl>
                  <c:pt idx="0">
                    <c:v>Cost ($ ×100)</c:v>
                  </c:pt>
                  <c:pt idx="1">
                    <c:v>Latency (s)</c:v>
                  </c:pt>
                  <c:pt idx="2">
                    <c:v>Coverage (×100)</c:v>
                  </c:pt>
                </c:lvl>
              </c:multiLvlStrCache>
            </c:multiLvlStrRef>
          </c:cat>
          <c:val>
            <c:numRef>
              <c:f>Sheet1!$C$2:$C$4</c:f>
              <c:numCache>
                <c:formatCode>General</c:formatCode>
                <c:ptCount val="3"/>
                <c:pt idx="0">
                  <c:v>8.5</c:v>
                </c:pt>
                <c:pt idx="1">
                  <c:v>46</c:v>
                </c:pt>
                <c:pt idx="2">
                  <c:v>92.5</c:v>
                </c:pt>
              </c:numCache>
            </c:numRef>
          </c:val>
        </c:ser>
        <c:dLbls>
          <c:numFmt formatCode="#,##0" sourceLinked="0"/>
          <c:txPr>
            <a:bodyPr/>
            <a:lstStyle/>
            <a:p>
              <a:pPr>
                <a:defRPr b="0" i="0" strike="noStrike" sz="900" u="none">
                  <a:solidFill>
                    <a:srgbClr val="1A233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6EB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68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Davon. This is The Second Opinion — the sequel to my midterm screener. The screener finds candidate stocks; this system does the homework on one: it reads the actual 10-K, pulls live financials and analyst data, and produces a one-page report where every claim is cited, the bear case is as strong as the bull case, and the 12-month view is arithmetic on stated assumptions rather than a prediction. Everything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any research tool has to answer is: why is this better than googling the ticker and asking a chatbot? Five reasons, and each maps to a component you'll see in the architecture: it reads primary sources and cites by paragraph; it cross-examines sources against each other; the bear case is held to the same standard as the bull case; it remembers prior analyses; and anything that's arithmetic is computed by code,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flow is deterministic code, not an LLM planner — that was a deliberate choice and I'll justify it. A request hits the input guard, which refuses advice-seeking prompts, then the router sends it either down the cheap focused-question path or the full report path. Three analyst agents fan out in parallel and write cited findings to a shared workspace. The valuation agent builds bear/base/bull scenarios — the model proposes assumptions, the calculator does the arithmetic. The writer drafts, the risk critic attacks the draft and can force up to two revisions, and an output guard checks citation coverage and phrasing before anything ships. Memory is updated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asked for at least four patterns. This implements seven, and each one is there for a reason I can point to. The one I deliberately left out is LLM-driven planning — the workflow has a fixed shape, so a deterministic orchestrator is more reliable and fully testable offline. Every pattern has a named test; the whole suite runs in under 20 seconds without a key or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report from the eval run, not a mock. The snapshot table is computed by code from statements — the model never does arithmetic. Bull and bear cases are three cited bullets each. The scenario table shows what has to be true for each outcome, with the implied price computed, and Claude's weighted view sits next to the analyst mean — weights start from a neutral 25/50/25 and only move with cited evidence. The sentiment check looks for divergence. And since-last-analysis is the episodic memory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live cases — happy paths, a bank, a recent IPO, a loss-making company, an invalid ticker, a focused question, an advice request that must be refused, a memory re-run, and a simulated news outage. Task success is all-or-nothing per case: right route, all sections, guardrails green, plus case-specific checks. Twelve of twelve on the final run, 93.6% citation coverage, about eleven cents per report. The stability arm ran NVDA five times: the scenario weights moved by at most three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I'm proud of reporting honestly. First, the ablation: turning the critic off barely changed the automated metrics, at a quarter less cost. That's because every time the critic rejected a draft during development, I turned the reason into a writer-prompt rule — so its value moved upstream. It still catches things, roughly two in fourteen now, so I keep it on by default and expose the switch. Second, ten real failures, all fixed and most pinned by tests — the three here are the most instructive, including the one where the model noticed my own contaminated data before I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Streamlit dashboard on top of the same orchestrator — that's what I demoed. Future work is a second sentiment source, 10-Q ingestion, and a rubric-scored critic. Limitations are stated plainly in the architecture doc. Everything — code, 27 tests, the architecture doc, and the eval report — is in the repo, tagged final-submission.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640080" y="1417320"/>
            <a:ext cx="7863840" cy="822960"/>
          </a:xfrm>
          <a:prstGeom prst="rect">
            <a:avLst/>
          </a:prstGeom>
          <a:noFill/>
          <a:ln/>
        </p:spPr>
        <p:txBody>
          <a:bodyPr wrap="square" lIns="0" tIns="0" rIns="0" bIns="0" rtlCol="0" anchor="ctr"/>
          <a:lstStyle/>
          <a:p>
            <a:pPr indent="0" marL="0">
              <a:buNone/>
            </a:pPr>
            <a:r>
              <a:rPr lang="en-US" sz="4400" b="1" spc="200" kern="0" dirty="0">
                <a:solidFill>
                  <a:srgbClr val="FFFFFF"/>
                </a:solidFill>
                <a:latin typeface="Cambria" pitchFamily="34" charset="0"/>
                <a:ea typeface="Cambria" pitchFamily="34" charset="-122"/>
                <a:cs typeface="Cambria" pitchFamily="34" charset="-120"/>
              </a:rPr>
              <a:t>THE SECOND OPINION</a:t>
            </a:r>
            <a:endParaRPr lang="en-US" sz="4400" dirty="0"/>
          </a:p>
        </p:txBody>
      </p:sp>
      <p:sp>
        <p:nvSpPr>
          <p:cNvPr id="3" name="Shape 1"/>
          <p:cNvSpPr/>
          <p:nvPr/>
        </p:nvSpPr>
        <p:spPr>
          <a:xfrm>
            <a:off x="658368" y="2286000"/>
            <a:ext cx="822960" cy="54864"/>
          </a:xfrm>
          <a:prstGeom prst="rect">
            <a:avLst/>
          </a:prstGeom>
          <a:solidFill>
            <a:srgbClr val="B5893A"/>
          </a:solidFill>
          <a:ln w="12700">
            <a:solidFill>
              <a:srgbClr val="B5893A"/>
            </a:solidFill>
            <a:prstDash val="solid"/>
          </a:ln>
        </p:spPr>
      </p:sp>
      <p:sp>
        <p:nvSpPr>
          <p:cNvPr id="4" name="Text 2"/>
          <p:cNvSpPr/>
          <p:nvPr/>
        </p:nvSpPr>
        <p:spPr>
          <a:xfrm>
            <a:off x="640080" y="2423160"/>
            <a:ext cx="7863840" cy="45720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The screener finds them. This does the homework.</a:t>
            </a:r>
            <a:endParaRPr lang="en-US" sz="2000" dirty="0"/>
          </a:p>
        </p:txBody>
      </p:sp>
      <p:sp>
        <p:nvSpPr>
          <p:cNvPr id="5" name="Text 3"/>
          <p:cNvSpPr/>
          <p:nvPr/>
        </p:nvSpPr>
        <p:spPr>
          <a:xfrm>
            <a:off x="640080" y="2926080"/>
            <a:ext cx="786384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multi-agent equity research crew that produces one-page, fully cited due-diligence reports</a:t>
            </a:r>
            <a:endParaRPr lang="en-US" sz="1400" dirty="0"/>
          </a:p>
        </p:txBody>
      </p:sp>
      <p:sp>
        <p:nvSpPr>
          <p:cNvPr id="6" name="Text 4"/>
          <p:cNvSpPr/>
          <p:nvPr/>
        </p:nvSpPr>
        <p:spPr>
          <a:xfrm>
            <a:off x="640080" y="4069080"/>
            <a:ext cx="78638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Davon Crane</a:t>
            </a:r>
            <a:pPr indent="0" marL="0">
              <a:buNone/>
            </a:pPr>
            <a:r>
              <a:rPr lang="en-US" sz="1300" dirty="0">
                <a:solidFill>
                  <a:srgbClr val="FFFFFF"/>
                </a:solidFill>
                <a:latin typeface="Calibri" pitchFamily="34" charset="0"/>
                <a:ea typeface="Calibri" pitchFamily="34" charset="-122"/>
                <a:cs typeface="Calibri" pitchFamily="34" charset="-120"/>
              </a:rPr>
              <a:t>  ·  Building Agentic AI Systems — Final Project  ·  August 2026</a:t>
            </a:r>
            <a:endParaRPr lang="en-US" sz="1300" dirty="0"/>
          </a:p>
        </p:txBody>
      </p:sp>
      <p:sp>
        <p:nvSpPr>
          <p:cNvPr id="7" name="Text 5"/>
          <p:cNvSpPr/>
          <p:nvPr/>
        </p:nvSpPr>
        <p:spPr>
          <a:xfrm>
            <a:off x="640080" y="4389120"/>
            <a:ext cx="7863840" cy="274320"/>
          </a:xfrm>
          <a:prstGeom prst="rect">
            <a:avLst/>
          </a:prstGeom>
          <a:noFill/>
          <a:ln/>
        </p:spPr>
        <p:txBody>
          <a:bodyPr wrap="square" lIns="0" tIns="0" rIns="0" bIns="0" rtlCol="0" anchor="ctr"/>
          <a:lstStyle/>
          <a:p>
            <a:pPr indent="0" marL="0">
              <a:buNone/>
            </a:pPr>
            <a:r>
              <a:rPr lang="en-US" sz="1200" dirty="0">
                <a:solidFill>
                  <a:srgbClr val="B5893A"/>
                </a:solidFill>
                <a:latin typeface="Calibri" pitchFamily="34" charset="0"/>
                <a:ea typeface="Calibri" pitchFamily="34" charset="-122"/>
                <a:cs typeface="Calibri" pitchFamily="34" charset="-120"/>
              </a:rPr>
              <a:t>github.com/DavonCrane/second-opinion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6324F"/>
                </a:solidFill>
                <a:latin typeface="Cambria" pitchFamily="34" charset="0"/>
                <a:ea typeface="Cambria" pitchFamily="34" charset="-122"/>
                <a:cs typeface="Cambria" pitchFamily="34" charset="-120"/>
              </a:rPr>
              <a:t>The bar to beat: a Google search + one chatbot call</a:t>
            </a:r>
            <a:endParaRPr lang="en-US" sz="2400" dirty="0"/>
          </a:p>
        </p:txBody>
      </p:sp>
      <p:sp>
        <p:nvSpPr>
          <p:cNvPr id="3" name="Text 1"/>
          <p:cNvSpPr/>
          <p:nvPr/>
        </p:nvSpPr>
        <p:spPr>
          <a:xfrm>
            <a:off x="457200" y="896112"/>
            <a:ext cx="8229600" cy="502920"/>
          </a:xfrm>
          <a:prstGeom prst="rect">
            <a:avLst/>
          </a:prstGeom>
          <a:noFill/>
          <a:ln/>
        </p:spPr>
        <p:txBody>
          <a:bodyPr wrap="square" lIns="0" tIns="0" rIns="0" bIns="0" rtlCol="0" anchor="ctr"/>
          <a:lstStyle/>
          <a:p>
            <a:pPr indent="0" marL="0">
              <a:buNone/>
            </a:pPr>
            <a:r>
              <a:rPr lang="en-US" sz="1300" dirty="0">
                <a:solidFill>
                  <a:srgbClr val="6B7686"/>
                </a:solidFill>
                <a:latin typeface="Calibri" pitchFamily="34" charset="0"/>
                <a:ea typeface="Calibri" pitchFamily="34" charset="-122"/>
                <a:cs typeface="Calibri" pitchFamily="34" charset="-120"/>
              </a:rPr>
              <a:t>Everything needed to evaluate a company is public. Synthesizing it takes hours, and a single LLM prompt gives you a confident, uncited summary.</a:t>
            </a:r>
            <a:endParaRPr lang="en-US" sz="1300" dirty="0"/>
          </a:p>
        </p:txBody>
      </p:sp>
      <p:sp>
        <p:nvSpPr>
          <p:cNvPr id="4" name="Shape 2"/>
          <p:cNvSpPr/>
          <p:nvPr/>
        </p:nvSpPr>
        <p:spPr>
          <a:xfrm>
            <a:off x="548640" y="1600200"/>
            <a:ext cx="384048" cy="384048"/>
          </a:xfrm>
          <a:prstGeom prst="ellipse">
            <a:avLst/>
          </a:prstGeom>
          <a:solidFill>
            <a:srgbClr val="16324F"/>
          </a:solidFill>
          <a:ln w="12700">
            <a:solidFill>
              <a:srgbClr val="16324F"/>
            </a:solidFill>
            <a:prstDash val="solid"/>
          </a:ln>
        </p:spPr>
      </p:sp>
      <p:sp>
        <p:nvSpPr>
          <p:cNvPr id="5" name="Text 3"/>
          <p:cNvSpPr/>
          <p:nvPr/>
        </p:nvSpPr>
        <p:spPr>
          <a:xfrm>
            <a:off x="548640"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97280" y="1554480"/>
            <a:ext cx="7498080" cy="256032"/>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Primary sources, cited by paragraph</a:t>
            </a:r>
            <a:endParaRPr lang="en-US" sz="1500" dirty="0"/>
          </a:p>
        </p:txBody>
      </p:sp>
      <p:sp>
        <p:nvSpPr>
          <p:cNvPr id="7" name="Text 5"/>
          <p:cNvSpPr/>
          <p:nvPr/>
        </p:nvSpPr>
        <p:spPr>
          <a:xfrm>
            <a:off x="1097280" y="1801368"/>
            <a:ext cx="7498080" cy="256032"/>
          </a:xfrm>
          <a:prstGeom prst="rect">
            <a:avLst/>
          </a:prstGeom>
          <a:noFill/>
          <a:ln/>
        </p:spPr>
        <p:txBody>
          <a:bodyPr wrap="square" lIns="0" tIns="0" rIns="0" bIns="0" rtlCol="0" anchor="ctr"/>
          <a:lstStyle/>
          <a:p>
            <a:pPr indent="0" marL="0">
              <a:buNone/>
            </a:pPr>
            <a:r>
              <a:rPr lang="en-US" sz="1200" dirty="0">
                <a:solidFill>
                  <a:srgbClr val="6B7686"/>
                </a:solidFill>
                <a:latin typeface="Calibri" pitchFamily="34" charset="0"/>
                <a:ea typeface="Calibri" pitchFamily="34" charset="-122"/>
                <a:cs typeface="Calibri" pitchFamily="34" charset="-120"/>
              </a:rPr>
              <a:t>RAG over the 10-K — “Item 1A ¶7”, not an article about it</a:t>
            </a:r>
            <a:endParaRPr lang="en-US" sz="1200" dirty="0"/>
          </a:p>
        </p:txBody>
      </p:sp>
      <p:sp>
        <p:nvSpPr>
          <p:cNvPr id="8" name="Shape 6"/>
          <p:cNvSpPr/>
          <p:nvPr/>
        </p:nvSpPr>
        <p:spPr>
          <a:xfrm>
            <a:off x="548640" y="2221992"/>
            <a:ext cx="384048" cy="384048"/>
          </a:xfrm>
          <a:prstGeom prst="ellipse">
            <a:avLst/>
          </a:prstGeom>
          <a:solidFill>
            <a:srgbClr val="16324F"/>
          </a:solidFill>
          <a:ln w="12700">
            <a:solidFill>
              <a:srgbClr val="16324F"/>
            </a:solidFill>
            <a:prstDash val="solid"/>
          </a:ln>
        </p:spPr>
      </p:sp>
      <p:sp>
        <p:nvSpPr>
          <p:cNvPr id="9" name="Text 7"/>
          <p:cNvSpPr/>
          <p:nvPr/>
        </p:nvSpPr>
        <p:spPr>
          <a:xfrm>
            <a:off x="548640" y="2221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97280" y="2176272"/>
            <a:ext cx="7498080" cy="256032"/>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Sources cross-examined</a:t>
            </a:r>
            <a:endParaRPr lang="en-US" sz="1500" dirty="0"/>
          </a:p>
        </p:txBody>
      </p:sp>
      <p:sp>
        <p:nvSpPr>
          <p:cNvPr id="11" name="Text 9"/>
          <p:cNvSpPr/>
          <p:nvPr/>
        </p:nvSpPr>
        <p:spPr>
          <a:xfrm>
            <a:off x="1097280" y="2423160"/>
            <a:ext cx="7498080" cy="256032"/>
          </a:xfrm>
          <a:prstGeom prst="rect">
            <a:avLst/>
          </a:prstGeom>
          <a:noFill/>
          <a:ln/>
        </p:spPr>
        <p:txBody>
          <a:bodyPr wrap="square" lIns="0" tIns="0" rIns="0" bIns="0" rtlCol="0" anchor="ctr"/>
          <a:lstStyle/>
          <a:p>
            <a:pPr indent="0" marL="0">
              <a:buNone/>
            </a:pPr>
            <a:r>
              <a:rPr lang="en-US" sz="1200" dirty="0">
                <a:solidFill>
                  <a:srgbClr val="6B7686"/>
                </a:solidFill>
                <a:latin typeface="Calibri" pitchFamily="34" charset="0"/>
                <a:ea typeface="Calibri" pitchFamily="34" charset="-122"/>
                <a:cs typeface="Calibri" pitchFamily="34" charset="-120"/>
              </a:rPr>
              <a:t>Sentiment vs. fundamentals vs. filing language — divergence is called out</a:t>
            </a:r>
            <a:endParaRPr lang="en-US" sz="1200" dirty="0"/>
          </a:p>
        </p:txBody>
      </p:sp>
      <p:sp>
        <p:nvSpPr>
          <p:cNvPr id="12" name="Shape 10"/>
          <p:cNvSpPr/>
          <p:nvPr/>
        </p:nvSpPr>
        <p:spPr>
          <a:xfrm>
            <a:off x="548640" y="2843784"/>
            <a:ext cx="384048" cy="384048"/>
          </a:xfrm>
          <a:prstGeom prst="ellipse">
            <a:avLst/>
          </a:prstGeom>
          <a:solidFill>
            <a:srgbClr val="16324F"/>
          </a:solidFill>
          <a:ln w="12700">
            <a:solidFill>
              <a:srgbClr val="16324F"/>
            </a:solidFill>
            <a:prstDash val="solid"/>
          </a:ln>
        </p:spPr>
      </p:sp>
      <p:sp>
        <p:nvSpPr>
          <p:cNvPr id="13" name="Text 11"/>
          <p:cNvSpPr/>
          <p:nvPr/>
        </p:nvSpPr>
        <p:spPr>
          <a:xfrm>
            <a:off x="548640" y="2843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97280" y="2798064"/>
            <a:ext cx="7498080" cy="256032"/>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A bear case as strong as the bull case</a:t>
            </a:r>
            <a:endParaRPr lang="en-US" sz="1500" dirty="0"/>
          </a:p>
        </p:txBody>
      </p:sp>
      <p:sp>
        <p:nvSpPr>
          <p:cNvPr id="15" name="Text 13"/>
          <p:cNvSpPr/>
          <p:nvPr/>
        </p:nvSpPr>
        <p:spPr>
          <a:xfrm>
            <a:off x="1097280" y="3044952"/>
            <a:ext cx="7498080" cy="256032"/>
          </a:xfrm>
          <a:prstGeom prst="rect">
            <a:avLst/>
          </a:prstGeom>
          <a:noFill/>
          <a:ln/>
        </p:spPr>
        <p:txBody>
          <a:bodyPr wrap="square" lIns="0" tIns="0" rIns="0" bIns="0" rtlCol="0" anchor="ctr"/>
          <a:lstStyle/>
          <a:p>
            <a:pPr indent="0" marL="0">
              <a:buNone/>
            </a:pPr>
            <a:r>
              <a:rPr lang="en-US" sz="1200" dirty="0">
                <a:solidFill>
                  <a:srgbClr val="6B7686"/>
                </a:solidFill>
                <a:latin typeface="Calibri" pitchFamily="34" charset="0"/>
                <a:ea typeface="Calibri" pitchFamily="34" charset="-122"/>
                <a:cs typeface="Calibri" pitchFamily="34" charset="-120"/>
              </a:rPr>
              <a:t>Held to the same evidentiary standard; a critic rejects weak ones</a:t>
            </a:r>
            <a:endParaRPr lang="en-US" sz="1200" dirty="0"/>
          </a:p>
        </p:txBody>
      </p:sp>
      <p:sp>
        <p:nvSpPr>
          <p:cNvPr id="16" name="Shape 14"/>
          <p:cNvSpPr/>
          <p:nvPr/>
        </p:nvSpPr>
        <p:spPr>
          <a:xfrm>
            <a:off x="548640" y="3465576"/>
            <a:ext cx="384048" cy="384048"/>
          </a:xfrm>
          <a:prstGeom prst="ellipse">
            <a:avLst/>
          </a:prstGeom>
          <a:solidFill>
            <a:srgbClr val="16324F"/>
          </a:solidFill>
          <a:ln w="12700">
            <a:solidFill>
              <a:srgbClr val="16324F"/>
            </a:solidFill>
            <a:prstDash val="solid"/>
          </a:ln>
        </p:spPr>
      </p:sp>
      <p:sp>
        <p:nvSpPr>
          <p:cNvPr id="17" name="Text 15"/>
          <p:cNvSpPr/>
          <p:nvPr/>
        </p:nvSpPr>
        <p:spPr>
          <a:xfrm>
            <a:off x="548640" y="3465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97280" y="3419856"/>
            <a:ext cx="7498080" cy="256032"/>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Memory</a:t>
            </a:r>
            <a:endParaRPr lang="en-US" sz="1500" dirty="0"/>
          </a:p>
        </p:txBody>
      </p:sp>
      <p:sp>
        <p:nvSpPr>
          <p:cNvPr id="19" name="Text 17"/>
          <p:cNvSpPr/>
          <p:nvPr/>
        </p:nvSpPr>
        <p:spPr>
          <a:xfrm>
            <a:off x="1097280" y="3666744"/>
            <a:ext cx="7498080" cy="256032"/>
          </a:xfrm>
          <a:prstGeom prst="rect">
            <a:avLst/>
          </a:prstGeom>
          <a:noFill/>
          <a:ln/>
        </p:spPr>
        <p:txBody>
          <a:bodyPr wrap="square" lIns="0" tIns="0" rIns="0" bIns="0" rtlCol="0" anchor="ctr"/>
          <a:lstStyle/>
          <a:p>
            <a:pPr indent="0" marL="0">
              <a:buNone/>
            </a:pPr>
            <a:r>
              <a:rPr lang="en-US" sz="1200" dirty="0">
                <a:solidFill>
                  <a:srgbClr val="6B7686"/>
                </a:solidFill>
                <a:latin typeface="Calibri" pitchFamily="34" charset="0"/>
                <a:ea typeface="Calibri" pitchFamily="34" charset="-122"/>
                <a:cs typeface="Calibri" pitchFamily="34" charset="-120"/>
              </a:rPr>
              <a:t>“Since last analysis” — what changed since you last looked</a:t>
            </a:r>
            <a:endParaRPr lang="en-US" sz="1200" dirty="0"/>
          </a:p>
        </p:txBody>
      </p:sp>
      <p:sp>
        <p:nvSpPr>
          <p:cNvPr id="20" name="Shape 18"/>
          <p:cNvSpPr/>
          <p:nvPr/>
        </p:nvSpPr>
        <p:spPr>
          <a:xfrm>
            <a:off x="548640" y="4087368"/>
            <a:ext cx="384048" cy="384048"/>
          </a:xfrm>
          <a:prstGeom prst="ellipse">
            <a:avLst/>
          </a:prstGeom>
          <a:solidFill>
            <a:srgbClr val="16324F"/>
          </a:solidFill>
          <a:ln w="12700">
            <a:solidFill>
              <a:srgbClr val="16324F"/>
            </a:solidFill>
            <a:prstDash val="solid"/>
          </a:ln>
        </p:spPr>
      </p:sp>
      <p:sp>
        <p:nvSpPr>
          <p:cNvPr id="21" name="Text 19"/>
          <p:cNvSpPr/>
          <p:nvPr/>
        </p:nvSpPr>
        <p:spPr>
          <a:xfrm>
            <a:off x="548640" y="4087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97280" y="4041648"/>
            <a:ext cx="7498080" cy="256032"/>
          </a:xfrm>
          <a:prstGeom prst="rect">
            <a:avLst/>
          </a:prstGeom>
          <a:noFill/>
          <a:ln/>
        </p:spPr>
        <p:txBody>
          <a:bodyPr wrap="square" lIns="0" tIns="0" rIns="0" bIns="0" rtlCol="0" anchor="ctr"/>
          <a:lstStyle/>
          <a:p>
            <a:pPr indent="0" marL="0">
              <a:buNone/>
            </a:pPr>
            <a:r>
              <a:rPr lang="en-US" sz="1500" b="1" dirty="0">
                <a:solidFill>
                  <a:srgbClr val="1A2332"/>
                </a:solidFill>
                <a:latin typeface="Calibri" pitchFamily="34" charset="0"/>
                <a:ea typeface="Calibri" pitchFamily="34" charset="-122"/>
                <a:cs typeface="Calibri" pitchFamily="34" charset="-120"/>
              </a:rPr>
              <a:t>Code does the math</a:t>
            </a:r>
            <a:endParaRPr lang="en-US" sz="1500" dirty="0"/>
          </a:p>
        </p:txBody>
      </p:sp>
      <p:sp>
        <p:nvSpPr>
          <p:cNvPr id="23" name="Text 21"/>
          <p:cNvSpPr/>
          <p:nvPr/>
        </p:nvSpPr>
        <p:spPr>
          <a:xfrm>
            <a:off x="1097280" y="4288536"/>
            <a:ext cx="7498080" cy="256032"/>
          </a:xfrm>
          <a:prstGeom prst="rect">
            <a:avLst/>
          </a:prstGeom>
          <a:noFill/>
          <a:ln/>
        </p:spPr>
        <p:txBody>
          <a:bodyPr wrap="square" lIns="0" tIns="0" rIns="0" bIns="0" rtlCol="0" anchor="ctr"/>
          <a:lstStyle/>
          <a:p>
            <a:pPr indent="0" marL="0">
              <a:buNone/>
            </a:pPr>
            <a:r>
              <a:rPr lang="en-US" sz="1200" dirty="0">
                <a:solidFill>
                  <a:srgbClr val="6B7686"/>
                </a:solidFill>
                <a:latin typeface="Calibri" pitchFamily="34" charset="0"/>
                <a:ea typeface="Calibri" pitchFamily="34" charset="-122"/>
                <a:cs typeface="Calibri" pitchFamily="34" charset="-120"/>
              </a:rPr>
              <a:t>12-month view from visible, disputable assumptions — never an oracle number</a:t>
            </a:r>
            <a:endParaRPr lang="en-US" sz="1200" dirty="0"/>
          </a:p>
        </p:txBody>
      </p:sp>
      <p:sp>
        <p:nvSpPr>
          <p:cNvPr id="24" name="Text 22"/>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Architecture — a deterministic orchestrator over six agents</a:t>
            </a:r>
            <a:endParaRPr lang="en-US" sz="2200" dirty="0"/>
          </a:p>
        </p:txBody>
      </p:sp>
      <p:sp>
        <p:nvSpPr>
          <p:cNvPr id="3" name="Shape 1"/>
          <p:cNvSpPr/>
          <p:nvPr/>
        </p:nvSpPr>
        <p:spPr>
          <a:xfrm>
            <a:off x="457200" y="960120"/>
            <a:ext cx="2377440" cy="658368"/>
          </a:xfrm>
          <a:prstGeom prst="roundRect">
            <a:avLst>
              <a:gd name="adj" fmla="val 11111"/>
            </a:avLst>
          </a:prstGeom>
          <a:solidFill>
            <a:srgbClr val="16324F"/>
          </a:solidFill>
          <a:ln w="12700">
            <a:solidFill>
              <a:srgbClr val="16324F"/>
            </a:solidFill>
            <a:prstDash val="solid"/>
          </a:ln>
        </p:spPr>
      </p:sp>
      <p:sp>
        <p:nvSpPr>
          <p:cNvPr id="4" name="Text 2"/>
          <p:cNvSpPr/>
          <p:nvPr/>
        </p:nvSpPr>
        <p:spPr>
          <a:xfrm>
            <a:off x="530352" y="1005840"/>
            <a:ext cx="223113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Input guard → Router</a:t>
            </a:r>
            <a:endParaRPr lang="en-US" sz="1150" dirty="0"/>
          </a:p>
        </p:txBody>
      </p:sp>
      <p:sp>
        <p:nvSpPr>
          <p:cNvPr id="5" name="Text 3"/>
          <p:cNvSpPr/>
          <p:nvPr/>
        </p:nvSpPr>
        <p:spPr>
          <a:xfrm>
            <a:off x="530352" y="1252728"/>
            <a:ext cx="2231136" cy="329184"/>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refuse advice-seeking · full report vs focused question (heuristics → Haiku)</a:t>
            </a:r>
            <a:endParaRPr lang="en-US" sz="900" dirty="0"/>
          </a:p>
        </p:txBody>
      </p:sp>
      <p:sp>
        <p:nvSpPr>
          <p:cNvPr id="6" name="Shape 4"/>
          <p:cNvSpPr/>
          <p:nvPr/>
        </p:nvSpPr>
        <p:spPr>
          <a:xfrm>
            <a:off x="3063240" y="960120"/>
            <a:ext cx="2011680" cy="658368"/>
          </a:xfrm>
          <a:prstGeom prst="roundRect">
            <a:avLst>
              <a:gd name="adj" fmla="val 11111"/>
            </a:avLst>
          </a:prstGeom>
          <a:solidFill>
            <a:srgbClr val="F3F5F8"/>
          </a:solidFill>
          <a:ln w="12700">
            <a:solidFill>
              <a:srgbClr val="F3F5F8"/>
            </a:solidFill>
            <a:prstDash val="solid"/>
          </a:ln>
        </p:spPr>
      </p:sp>
      <p:sp>
        <p:nvSpPr>
          <p:cNvPr id="7" name="Text 5"/>
          <p:cNvSpPr/>
          <p:nvPr/>
        </p:nvSpPr>
        <p:spPr>
          <a:xfrm>
            <a:off x="3136392" y="1005840"/>
            <a:ext cx="186537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Resolve ticker · snapshot</a:t>
            </a:r>
            <a:endParaRPr lang="en-US" sz="1150" dirty="0"/>
          </a:p>
        </p:txBody>
      </p:sp>
      <p:sp>
        <p:nvSpPr>
          <p:cNvPr id="8" name="Text 6"/>
          <p:cNvSpPr/>
          <p:nvPr/>
        </p:nvSpPr>
        <p:spPr>
          <a:xfrm>
            <a:off x="3136392" y="1252728"/>
            <a:ext cx="1865376" cy="329184"/>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yfinance · load semantic memory</a:t>
            </a:r>
            <a:endParaRPr lang="en-US" sz="900" dirty="0"/>
          </a:p>
        </p:txBody>
      </p:sp>
      <p:sp>
        <p:nvSpPr>
          <p:cNvPr id="9" name="Shape 7"/>
          <p:cNvSpPr/>
          <p:nvPr/>
        </p:nvSpPr>
        <p:spPr>
          <a:xfrm>
            <a:off x="5303520" y="960120"/>
            <a:ext cx="3383280" cy="658368"/>
          </a:xfrm>
          <a:prstGeom prst="roundRect">
            <a:avLst>
              <a:gd name="adj" fmla="val 11111"/>
            </a:avLst>
          </a:prstGeom>
          <a:solidFill>
            <a:srgbClr val="F3F5F8"/>
          </a:solidFill>
          <a:ln w="12700">
            <a:solidFill>
              <a:srgbClr val="F3F5F8"/>
            </a:solidFill>
            <a:prstDash val="solid"/>
          </a:ln>
        </p:spPr>
      </p:sp>
      <p:sp>
        <p:nvSpPr>
          <p:cNvPr id="10" name="Text 8"/>
          <p:cNvSpPr/>
          <p:nvPr/>
        </p:nvSpPr>
        <p:spPr>
          <a:xfrm>
            <a:off x="5376672" y="1005840"/>
            <a:ext cx="323697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Focused path (cheap)</a:t>
            </a:r>
            <a:endParaRPr lang="en-US" sz="1150" dirty="0"/>
          </a:p>
        </p:txBody>
      </p:sp>
      <p:sp>
        <p:nvSpPr>
          <p:cNvPr id="11" name="Text 9"/>
          <p:cNvSpPr/>
          <p:nvPr/>
        </p:nvSpPr>
        <p:spPr>
          <a:xfrm>
            <a:off x="5376672" y="1252728"/>
            <a:ext cx="3236976" cy="329184"/>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snapshot + RAG retrieve → one cited answer · 1 call, ~$0.01, ~20 s</a:t>
            </a:r>
            <a:endParaRPr lang="en-US" sz="900" dirty="0"/>
          </a:p>
        </p:txBody>
      </p:sp>
      <p:sp>
        <p:nvSpPr>
          <p:cNvPr id="12" name="Shape 10"/>
          <p:cNvSpPr/>
          <p:nvPr/>
        </p:nvSpPr>
        <p:spPr>
          <a:xfrm>
            <a:off x="2834640" y="1289304"/>
            <a:ext cx="228600" cy="0"/>
          </a:xfrm>
          <a:prstGeom prst="line">
            <a:avLst/>
          </a:prstGeom>
          <a:noFill/>
          <a:ln w="15875">
            <a:solidFill>
              <a:srgbClr val="6B7686"/>
            </a:solidFill>
            <a:prstDash val="solid"/>
            <a:tailEnd type="triangle"/>
          </a:ln>
        </p:spPr>
      </p:sp>
      <p:sp>
        <p:nvSpPr>
          <p:cNvPr id="13" name="Shape 11"/>
          <p:cNvSpPr/>
          <p:nvPr/>
        </p:nvSpPr>
        <p:spPr>
          <a:xfrm>
            <a:off x="5074920" y="1289304"/>
            <a:ext cx="228600" cy="0"/>
          </a:xfrm>
          <a:prstGeom prst="line">
            <a:avLst/>
          </a:prstGeom>
          <a:noFill/>
          <a:ln w="15875">
            <a:solidFill>
              <a:srgbClr val="6B7686"/>
            </a:solidFill>
            <a:prstDash val="solid"/>
            <a:tailEnd type="triangle"/>
          </a:ln>
        </p:spPr>
      </p:sp>
      <p:sp>
        <p:nvSpPr>
          <p:cNvPr id="14" name="Text 12"/>
          <p:cNvSpPr/>
          <p:nvPr/>
        </p:nvSpPr>
        <p:spPr>
          <a:xfrm>
            <a:off x="457200" y="1737360"/>
            <a:ext cx="4572000" cy="228600"/>
          </a:xfrm>
          <a:prstGeom prst="rect">
            <a:avLst/>
          </a:prstGeom>
          <a:noFill/>
          <a:ln/>
        </p:spPr>
        <p:txBody>
          <a:bodyPr wrap="square" lIns="0" tIns="0" rIns="0" bIns="0" rtlCol="0" anchor="ctr"/>
          <a:lstStyle/>
          <a:p>
            <a:pPr indent="0" marL="0">
              <a:buNone/>
            </a:pPr>
            <a:r>
              <a:rPr lang="en-US" sz="950" i="1" dirty="0">
                <a:solidFill>
                  <a:srgbClr val="6B7686"/>
                </a:solidFill>
                <a:latin typeface="Calibri" pitchFamily="34" charset="0"/>
                <a:ea typeface="Calibri" pitchFamily="34" charset="-122"/>
                <a:cs typeface="Calibri" pitchFamily="34" charset="-120"/>
              </a:rPr>
              <a:t>parallel fan-out (ThreadPool)</a:t>
            </a:r>
            <a:endParaRPr lang="en-US" sz="950" dirty="0"/>
          </a:p>
        </p:txBody>
      </p:sp>
      <p:sp>
        <p:nvSpPr>
          <p:cNvPr id="15" name="Shape 13"/>
          <p:cNvSpPr/>
          <p:nvPr/>
        </p:nvSpPr>
        <p:spPr>
          <a:xfrm>
            <a:off x="457200" y="1965960"/>
            <a:ext cx="1600200" cy="914400"/>
          </a:xfrm>
          <a:prstGeom prst="roundRect">
            <a:avLst>
              <a:gd name="adj" fmla="val 8000"/>
            </a:avLst>
          </a:prstGeom>
          <a:solidFill>
            <a:srgbClr val="F3F5F8"/>
          </a:solidFill>
          <a:ln w="12700">
            <a:solidFill>
              <a:srgbClr val="F3F5F8"/>
            </a:solidFill>
            <a:prstDash val="solid"/>
          </a:ln>
        </p:spPr>
      </p:sp>
      <p:sp>
        <p:nvSpPr>
          <p:cNvPr id="16" name="Text 14"/>
          <p:cNvSpPr/>
          <p:nvPr/>
        </p:nvSpPr>
        <p:spPr>
          <a:xfrm>
            <a:off x="530352" y="2011680"/>
            <a:ext cx="145389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Fundamentals</a:t>
            </a:r>
            <a:endParaRPr lang="en-US" sz="1150" dirty="0"/>
          </a:p>
        </p:txBody>
      </p:sp>
      <p:sp>
        <p:nvSpPr>
          <p:cNvPr id="17" name="Text 15"/>
          <p:cNvSpPr/>
          <p:nvPr/>
        </p:nvSpPr>
        <p:spPr>
          <a:xfrm>
            <a:off x="530352" y="2258568"/>
            <a:ext cx="1453896" cy="585216"/>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10-K RAG (Items 1/1A/7) + statements via calculator</a:t>
            </a:r>
            <a:endParaRPr lang="en-US" sz="900" dirty="0"/>
          </a:p>
        </p:txBody>
      </p:sp>
      <p:sp>
        <p:nvSpPr>
          <p:cNvPr id="18" name="Shape 16"/>
          <p:cNvSpPr/>
          <p:nvPr/>
        </p:nvSpPr>
        <p:spPr>
          <a:xfrm>
            <a:off x="2194560" y="1965960"/>
            <a:ext cx="1600200" cy="914400"/>
          </a:xfrm>
          <a:prstGeom prst="roundRect">
            <a:avLst>
              <a:gd name="adj" fmla="val 8000"/>
            </a:avLst>
          </a:prstGeom>
          <a:solidFill>
            <a:srgbClr val="F3F5F8"/>
          </a:solidFill>
          <a:ln w="12700">
            <a:solidFill>
              <a:srgbClr val="F3F5F8"/>
            </a:solidFill>
            <a:prstDash val="solid"/>
          </a:ln>
        </p:spPr>
      </p:sp>
      <p:sp>
        <p:nvSpPr>
          <p:cNvPr id="19" name="Text 17"/>
          <p:cNvSpPr/>
          <p:nvPr/>
        </p:nvSpPr>
        <p:spPr>
          <a:xfrm>
            <a:off x="2267712" y="2011680"/>
            <a:ext cx="145389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News</a:t>
            </a:r>
            <a:endParaRPr lang="en-US" sz="1150" dirty="0"/>
          </a:p>
        </p:txBody>
      </p:sp>
      <p:sp>
        <p:nvSpPr>
          <p:cNvPr id="20" name="Text 18"/>
          <p:cNvSpPr/>
          <p:nvPr/>
        </p:nvSpPr>
        <p:spPr>
          <a:xfrm>
            <a:off x="2267712" y="2258568"/>
            <a:ext cx="1453896" cy="585216"/>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headlines → relevance filter, dated findings</a:t>
            </a:r>
            <a:endParaRPr lang="en-US" sz="900" dirty="0"/>
          </a:p>
        </p:txBody>
      </p:sp>
      <p:sp>
        <p:nvSpPr>
          <p:cNvPr id="21" name="Shape 19"/>
          <p:cNvSpPr/>
          <p:nvPr/>
        </p:nvSpPr>
        <p:spPr>
          <a:xfrm>
            <a:off x="3931920" y="1965960"/>
            <a:ext cx="1600200" cy="914400"/>
          </a:xfrm>
          <a:prstGeom prst="roundRect">
            <a:avLst>
              <a:gd name="adj" fmla="val 8000"/>
            </a:avLst>
          </a:prstGeom>
          <a:solidFill>
            <a:srgbClr val="F3F5F8"/>
          </a:solidFill>
          <a:ln w="12700">
            <a:solidFill>
              <a:srgbClr val="F3F5F8"/>
            </a:solidFill>
            <a:prstDash val="solid"/>
          </a:ln>
        </p:spPr>
      </p:sp>
      <p:sp>
        <p:nvSpPr>
          <p:cNvPr id="22" name="Text 20"/>
          <p:cNvSpPr/>
          <p:nvPr/>
        </p:nvSpPr>
        <p:spPr>
          <a:xfrm>
            <a:off x="4005072" y="2011680"/>
            <a:ext cx="145389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Sentiment</a:t>
            </a:r>
            <a:endParaRPr lang="en-US" sz="1150" dirty="0"/>
          </a:p>
        </p:txBody>
      </p:sp>
      <p:sp>
        <p:nvSpPr>
          <p:cNvPr id="23" name="Text 21"/>
          <p:cNvSpPr/>
          <p:nvPr/>
        </p:nvSpPr>
        <p:spPr>
          <a:xfrm>
            <a:off x="4005072" y="2258568"/>
            <a:ext cx="1453896" cy="585216"/>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analyst consensus + StockTwits posts (user labels + Haiku)</a:t>
            </a:r>
            <a:endParaRPr lang="en-US" sz="900" dirty="0"/>
          </a:p>
        </p:txBody>
      </p:sp>
      <p:sp>
        <p:nvSpPr>
          <p:cNvPr id="24" name="Shape 22"/>
          <p:cNvSpPr/>
          <p:nvPr/>
        </p:nvSpPr>
        <p:spPr>
          <a:xfrm>
            <a:off x="4069080" y="1618488"/>
            <a:ext cx="-1051560" cy="347472"/>
          </a:xfrm>
          <a:prstGeom prst="line">
            <a:avLst/>
          </a:prstGeom>
          <a:noFill/>
          <a:ln w="15875">
            <a:solidFill>
              <a:srgbClr val="6B7686"/>
            </a:solidFill>
            <a:prstDash val="solid"/>
            <a:tailEnd type="triangle"/>
          </a:ln>
        </p:spPr>
      </p:sp>
      <p:sp>
        <p:nvSpPr>
          <p:cNvPr id="25" name="Shape 23"/>
          <p:cNvSpPr/>
          <p:nvPr/>
        </p:nvSpPr>
        <p:spPr>
          <a:xfrm>
            <a:off x="5760720" y="1965960"/>
            <a:ext cx="2926080" cy="914400"/>
          </a:xfrm>
          <a:prstGeom prst="roundRect">
            <a:avLst>
              <a:gd name="adj" fmla="val 8000"/>
            </a:avLst>
          </a:prstGeom>
          <a:solidFill>
            <a:srgbClr val="EEF2F7"/>
          </a:solidFill>
          <a:ln w="12700">
            <a:solidFill>
              <a:srgbClr val="EEF2F7"/>
            </a:solidFill>
            <a:prstDash val="solid"/>
          </a:ln>
        </p:spPr>
      </p:sp>
      <p:sp>
        <p:nvSpPr>
          <p:cNvPr id="26" name="Text 24"/>
          <p:cNvSpPr/>
          <p:nvPr/>
        </p:nvSpPr>
        <p:spPr>
          <a:xfrm>
            <a:off x="5833872" y="2011680"/>
            <a:ext cx="277977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Shared workspace (working memory)</a:t>
            </a:r>
            <a:endParaRPr lang="en-US" sz="1150" dirty="0"/>
          </a:p>
        </p:txBody>
      </p:sp>
      <p:sp>
        <p:nvSpPr>
          <p:cNvPr id="27" name="Text 25"/>
          <p:cNvSpPr/>
          <p:nvPr/>
        </p:nvSpPr>
        <p:spPr>
          <a:xfrm>
            <a:off x="5833872" y="2258568"/>
            <a:ext cx="2779776" cy="585216"/>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findings · numbered sources · facts · log · drafts · critiques</a:t>
            </a:r>
            <a:endParaRPr lang="en-US" sz="900" dirty="0"/>
          </a:p>
        </p:txBody>
      </p:sp>
      <p:sp>
        <p:nvSpPr>
          <p:cNvPr id="28" name="Shape 26"/>
          <p:cNvSpPr/>
          <p:nvPr/>
        </p:nvSpPr>
        <p:spPr>
          <a:xfrm>
            <a:off x="5532120" y="2423160"/>
            <a:ext cx="228600" cy="0"/>
          </a:xfrm>
          <a:prstGeom prst="line">
            <a:avLst/>
          </a:prstGeom>
          <a:noFill/>
          <a:ln w="15875">
            <a:solidFill>
              <a:srgbClr val="6B7686"/>
            </a:solidFill>
            <a:prstDash val="solid"/>
            <a:tailEnd type="triangle"/>
          </a:ln>
        </p:spPr>
      </p:sp>
      <p:sp>
        <p:nvSpPr>
          <p:cNvPr id="29" name="Shape 27"/>
          <p:cNvSpPr/>
          <p:nvPr/>
        </p:nvSpPr>
        <p:spPr>
          <a:xfrm>
            <a:off x="457200" y="3108960"/>
            <a:ext cx="2651760" cy="868680"/>
          </a:xfrm>
          <a:prstGeom prst="roundRect">
            <a:avLst>
              <a:gd name="adj" fmla="val 8421"/>
            </a:avLst>
          </a:prstGeom>
          <a:solidFill>
            <a:srgbClr val="F3F5F8"/>
          </a:solidFill>
          <a:ln w="12700">
            <a:solidFill>
              <a:srgbClr val="F3F5F8"/>
            </a:solidFill>
            <a:prstDash val="solid"/>
          </a:ln>
        </p:spPr>
      </p:sp>
      <p:sp>
        <p:nvSpPr>
          <p:cNvPr id="30" name="Text 28"/>
          <p:cNvSpPr/>
          <p:nvPr/>
        </p:nvSpPr>
        <p:spPr>
          <a:xfrm>
            <a:off x="530352" y="3154680"/>
            <a:ext cx="2505456" cy="256032"/>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Valuation</a:t>
            </a:r>
            <a:endParaRPr lang="en-US" sz="1150" dirty="0"/>
          </a:p>
        </p:txBody>
      </p:sp>
      <p:sp>
        <p:nvSpPr>
          <p:cNvPr id="31" name="Text 29"/>
          <p:cNvSpPr/>
          <p:nvPr/>
        </p:nvSpPr>
        <p:spPr>
          <a:xfrm>
            <a:off x="530352" y="3401568"/>
            <a:ext cx="2505456" cy="539496"/>
          </a:xfrm>
          <a:prstGeom prst="rect">
            <a:avLst/>
          </a:prstGeom>
          <a:noFill/>
          <a:ln/>
        </p:spPr>
        <p:txBody>
          <a:bodyPr wrap="square" lIns="0" tIns="0" rIns="0" bIns="0" rtlCol="0" anchor="t"/>
          <a:lstStyle/>
          <a:p>
            <a:pPr indent="0" marL="0">
              <a:buNone/>
            </a:pPr>
            <a:r>
              <a:rPr lang="en-US" sz="900" dirty="0">
                <a:solidFill>
                  <a:srgbClr val="6B7686"/>
                </a:solidFill>
                <a:latin typeface="Calibri" pitchFamily="34" charset="0"/>
                <a:ea typeface="Calibri" pitchFamily="34" charset="-122"/>
                <a:cs typeface="Calibri" pitchFamily="34" charset="-120"/>
              </a:rPr>
              <a:t>bear/base/bull EPS assumptions (model) × multiples from own P/E history (calculator) · weights from neutral 25/50/25, cited</a:t>
            </a:r>
            <a:endParaRPr lang="en-US" sz="900" dirty="0"/>
          </a:p>
        </p:txBody>
      </p:sp>
      <p:sp>
        <p:nvSpPr>
          <p:cNvPr id="32" name="Shape 30"/>
          <p:cNvSpPr/>
          <p:nvPr/>
        </p:nvSpPr>
        <p:spPr>
          <a:xfrm>
            <a:off x="3337560" y="3108960"/>
            <a:ext cx="2651760" cy="868680"/>
          </a:xfrm>
          <a:prstGeom prst="roundRect">
            <a:avLst>
              <a:gd name="adj" fmla="val 8421"/>
            </a:avLst>
          </a:prstGeom>
          <a:solidFill>
            <a:srgbClr val="B5893A"/>
          </a:solidFill>
          <a:ln w="12700">
            <a:solidFill>
              <a:srgbClr val="B5893A"/>
            </a:solidFill>
            <a:prstDash val="solid"/>
          </a:ln>
        </p:spPr>
      </p:sp>
      <p:sp>
        <p:nvSpPr>
          <p:cNvPr id="33" name="Text 31"/>
          <p:cNvSpPr/>
          <p:nvPr/>
        </p:nvSpPr>
        <p:spPr>
          <a:xfrm>
            <a:off x="3410712" y="3154680"/>
            <a:ext cx="250545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Writer ⇄ Risk Critic</a:t>
            </a:r>
            <a:endParaRPr lang="en-US" sz="1150" dirty="0"/>
          </a:p>
        </p:txBody>
      </p:sp>
      <p:sp>
        <p:nvSpPr>
          <p:cNvPr id="34" name="Text 32"/>
          <p:cNvSpPr/>
          <p:nvPr/>
        </p:nvSpPr>
        <p:spPr>
          <a:xfrm>
            <a:off x="3410712" y="3401568"/>
            <a:ext cx="2505456" cy="539496"/>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REJECT → revise (≤2 rounds) → APPROVE · the reflection loop; also the eval ablation</a:t>
            </a:r>
            <a:endParaRPr lang="en-US" sz="900" dirty="0"/>
          </a:p>
        </p:txBody>
      </p:sp>
      <p:sp>
        <p:nvSpPr>
          <p:cNvPr id="35" name="Shape 33"/>
          <p:cNvSpPr/>
          <p:nvPr/>
        </p:nvSpPr>
        <p:spPr>
          <a:xfrm>
            <a:off x="6217920" y="3108960"/>
            <a:ext cx="2468880" cy="868680"/>
          </a:xfrm>
          <a:prstGeom prst="roundRect">
            <a:avLst>
              <a:gd name="adj" fmla="val 8421"/>
            </a:avLst>
          </a:prstGeom>
          <a:solidFill>
            <a:srgbClr val="16324F"/>
          </a:solidFill>
          <a:ln w="12700">
            <a:solidFill>
              <a:srgbClr val="16324F"/>
            </a:solidFill>
            <a:prstDash val="solid"/>
          </a:ln>
        </p:spPr>
      </p:sp>
      <p:sp>
        <p:nvSpPr>
          <p:cNvPr id="36" name="Text 34"/>
          <p:cNvSpPr/>
          <p:nvPr/>
        </p:nvSpPr>
        <p:spPr>
          <a:xfrm>
            <a:off x="6291072" y="31546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Output guard</a:t>
            </a:r>
            <a:endParaRPr lang="en-US" sz="1150" dirty="0"/>
          </a:p>
        </p:txBody>
      </p:sp>
      <p:sp>
        <p:nvSpPr>
          <p:cNvPr id="37" name="Text 35"/>
          <p:cNvSpPr/>
          <p:nvPr/>
        </p:nvSpPr>
        <p:spPr>
          <a:xfrm>
            <a:off x="6291072" y="3401568"/>
            <a:ext cx="2322576" cy="539496"/>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citation coverage ≥ 0.9 · no dangling [n] · no advice phrasing · disclaimer</a:t>
            </a:r>
            <a:endParaRPr lang="en-US" sz="900" dirty="0"/>
          </a:p>
        </p:txBody>
      </p:sp>
      <p:sp>
        <p:nvSpPr>
          <p:cNvPr id="38" name="Shape 36"/>
          <p:cNvSpPr/>
          <p:nvPr/>
        </p:nvSpPr>
        <p:spPr>
          <a:xfrm>
            <a:off x="7223760" y="2880360"/>
            <a:ext cx="-5440680" cy="228600"/>
          </a:xfrm>
          <a:prstGeom prst="line">
            <a:avLst/>
          </a:prstGeom>
          <a:noFill/>
          <a:ln w="15875">
            <a:solidFill>
              <a:srgbClr val="6B7686"/>
            </a:solidFill>
            <a:prstDash val="solid"/>
            <a:tailEnd type="triangle"/>
          </a:ln>
        </p:spPr>
      </p:sp>
      <p:sp>
        <p:nvSpPr>
          <p:cNvPr id="39" name="Shape 37"/>
          <p:cNvSpPr/>
          <p:nvPr/>
        </p:nvSpPr>
        <p:spPr>
          <a:xfrm>
            <a:off x="3108960" y="3538728"/>
            <a:ext cx="228600" cy="0"/>
          </a:xfrm>
          <a:prstGeom prst="line">
            <a:avLst/>
          </a:prstGeom>
          <a:noFill/>
          <a:ln w="15875">
            <a:solidFill>
              <a:srgbClr val="6B7686"/>
            </a:solidFill>
            <a:prstDash val="solid"/>
            <a:tailEnd type="triangle"/>
          </a:ln>
        </p:spPr>
      </p:sp>
      <p:sp>
        <p:nvSpPr>
          <p:cNvPr id="40" name="Shape 38"/>
          <p:cNvSpPr/>
          <p:nvPr/>
        </p:nvSpPr>
        <p:spPr>
          <a:xfrm>
            <a:off x="5989320" y="3538728"/>
            <a:ext cx="228600" cy="0"/>
          </a:xfrm>
          <a:prstGeom prst="line">
            <a:avLst/>
          </a:prstGeom>
          <a:noFill/>
          <a:ln w="15875">
            <a:solidFill>
              <a:srgbClr val="6B7686"/>
            </a:solidFill>
            <a:prstDash val="solid"/>
            <a:tailEnd type="triangle"/>
          </a:ln>
        </p:spPr>
      </p:sp>
      <p:sp>
        <p:nvSpPr>
          <p:cNvPr id="41" name="Text 39"/>
          <p:cNvSpPr/>
          <p:nvPr/>
        </p:nvSpPr>
        <p:spPr>
          <a:xfrm>
            <a:off x="457200" y="4160520"/>
            <a:ext cx="8229600" cy="2743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 report.md (+PDF) · episodic memory (this run) · semantic memory (durable facts) · Streamlit dashboard</a:t>
            </a:r>
            <a:endParaRPr lang="en-US" sz="1100" dirty="0"/>
          </a:p>
        </p:txBody>
      </p:sp>
      <p:sp>
        <p:nvSpPr>
          <p:cNvPr id="42" name="Text 40"/>
          <p:cNvSpPr/>
          <p:nvPr/>
        </p:nvSpPr>
        <p:spPr>
          <a:xfrm>
            <a:off x="457200" y="4434840"/>
            <a:ext cx="8229600" cy="347472"/>
          </a:xfrm>
          <a:prstGeom prst="rect">
            <a:avLst/>
          </a:prstGeom>
          <a:noFill/>
          <a:ln/>
        </p:spPr>
        <p:txBody>
          <a:bodyPr wrap="square" lIns="0" tIns="0" rIns="0" bIns="0" rtlCol="0" anchor="ctr"/>
          <a:lstStyle/>
          <a:p>
            <a:pPr indent="0" marL="0">
              <a:buNone/>
            </a:pPr>
            <a:r>
              <a:rPr lang="en-US" sz="1000" i="1" dirty="0">
                <a:solidFill>
                  <a:srgbClr val="6B7686"/>
                </a:solidFill>
                <a:latin typeface="Calibri" pitchFamily="34" charset="0"/>
                <a:ea typeface="Calibri" pitchFamily="34" charset="-122"/>
                <a:cs typeface="Calibri" pitchFamily="34" charset="-120"/>
              </a:rPr>
              <a:t>Deliberately NOT a ReAct planner: the workflow has a known shape, so code-driven control is cheaper, testable offline, and produces an identical, observable trace every run.</a:t>
            </a:r>
            <a:endParaRPr lang="en-US" sz="1000" dirty="0"/>
          </a:p>
        </p:txBody>
      </p:sp>
      <p:sp>
        <p:nvSpPr>
          <p:cNvPr id="43" name="Text 41"/>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Seven of eight course patterns — and one left out on purpose</a:t>
            </a:r>
            <a:endParaRPr lang="en-US" sz="2200" dirty="0"/>
          </a:p>
        </p:txBody>
      </p:sp>
      <p:sp>
        <p:nvSpPr>
          <p:cNvPr id="3" name="Shape 1"/>
          <p:cNvSpPr/>
          <p:nvPr/>
        </p:nvSpPr>
        <p:spPr>
          <a:xfrm>
            <a:off x="457200" y="105156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4" name="Text 2"/>
          <p:cNvSpPr/>
          <p:nvPr/>
        </p:nvSpPr>
        <p:spPr>
          <a:xfrm>
            <a:off x="594360" y="116128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594360" y="155448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Routing + parallelization</a:t>
            </a:r>
            <a:endParaRPr lang="en-US" sz="1250" dirty="0"/>
          </a:p>
        </p:txBody>
      </p:sp>
      <p:sp>
        <p:nvSpPr>
          <p:cNvPr id="6" name="Text 4"/>
          <p:cNvSpPr/>
          <p:nvPr/>
        </p:nvSpPr>
        <p:spPr>
          <a:xfrm>
            <a:off x="594360" y="196596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router.py; ThreadPool fan-out of 3 analysts</a:t>
            </a:r>
            <a:endParaRPr lang="en-US" sz="1000" dirty="0"/>
          </a:p>
        </p:txBody>
      </p:sp>
      <p:sp>
        <p:nvSpPr>
          <p:cNvPr id="7" name="Shape 5"/>
          <p:cNvSpPr/>
          <p:nvPr/>
        </p:nvSpPr>
        <p:spPr>
          <a:xfrm>
            <a:off x="2560320" y="105156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8" name="Text 6"/>
          <p:cNvSpPr/>
          <p:nvPr/>
        </p:nvSpPr>
        <p:spPr>
          <a:xfrm>
            <a:off x="2697480" y="116128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2697480" y="155448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Reflection / self-critique</a:t>
            </a:r>
            <a:endParaRPr lang="en-US" sz="1250" dirty="0"/>
          </a:p>
        </p:txBody>
      </p:sp>
      <p:sp>
        <p:nvSpPr>
          <p:cNvPr id="10" name="Text 8"/>
          <p:cNvSpPr/>
          <p:nvPr/>
        </p:nvSpPr>
        <p:spPr>
          <a:xfrm>
            <a:off x="2697480" y="196596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Risk Critic → writer revision loop (≤2 rounds)</a:t>
            </a:r>
            <a:endParaRPr lang="en-US" sz="1000" dirty="0"/>
          </a:p>
        </p:txBody>
      </p:sp>
      <p:sp>
        <p:nvSpPr>
          <p:cNvPr id="11" name="Shape 9"/>
          <p:cNvSpPr/>
          <p:nvPr/>
        </p:nvSpPr>
        <p:spPr>
          <a:xfrm>
            <a:off x="4663440" y="105156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12" name="Text 10"/>
          <p:cNvSpPr/>
          <p:nvPr/>
        </p:nvSpPr>
        <p:spPr>
          <a:xfrm>
            <a:off x="4800600" y="116128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4800600" y="155448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Tool use — 6 tools</a:t>
            </a:r>
            <a:endParaRPr lang="en-US" sz="1250" dirty="0"/>
          </a:p>
        </p:txBody>
      </p:sp>
      <p:sp>
        <p:nvSpPr>
          <p:cNvPr id="14" name="Text 12"/>
          <p:cNvSpPr/>
          <p:nvPr/>
        </p:nvSpPr>
        <p:spPr>
          <a:xfrm>
            <a:off x="4800600" y="196596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yfinance · SEC EDGAR · news · StockTwits · Reddit · calculator</a:t>
            </a:r>
            <a:endParaRPr lang="en-US" sz="1000" dirty="0"/>
          </a:p>
        </p:txBody>
      </p:sp>
      <p:sp>
        <p:nvSpPr>
          <p:cNvPr id="15" name="Shape 13"/>
          <p:cNvSpPr/>
          <p:nvPr/>
        </p:nvSpPr>
        <p:spPr>
          <a:xfrm>
            <a:off x="6766560" y="105156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16" name="Text 14"/>
          <p:cNvSpPr/>
          <p:nvPr/>
        </p:nvSpPr>
        <p:spPr>
          <a:xfrm>
            <a:off x="6903720" y="116128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4</a:t>
            </a:r>
            <a:endParaRPr lang="en-US" sz="2200" dirty="0"/>
          </a:p>
        </p:txBody>
      </p:sp>
      <p:sp>
        <p:nvSpPr>
          <p:cNvPr id="17" name="Text 15"/>
          <p:cNvSpPr/>
          <p:nvPr/>
        </p:nvSpPr>
        <p:spPr>
          <a:xfrm>
            <a:off x="6903720" y="155448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Multi-agent with handoffs</a:t>
            </a:r>
            <a:endParaRPr lang="en-US" sz="1250" dirty="0"/>
          </a:p>
        </p:txBody>
      </p:sp>
      <p:sp>
        <p:nvSpPr>
          <p:cNvPr id="18" name="Text 16"/>
          <p:cNvSpPr/>
          <p:nvPr/>
        </p:nvSpPr>
        <p:spPr>
          <a:xfrm>
            <a:off x="6903720" y="196596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6 agents over a shared workspace</a:t>
            </a:r>
            <a:endParaRPr lang="en-US" sz="1000" dirty="0"/>
          </a:p>
        </p:txBody>
      </p:sp>
      <p:sp>
        <p:nvSpPr>
          <p:cNvPr id="19" name="Shape 17"/>
          <p:cNvSpPr/>
          <p:nvPr/>
        </p:nvSpPr>
        <p:spPr>
          <a:xfrm>
            <a:off x="457200" y="274320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20" name="Text 18"/>
          <p:cNvSpPr/>
          <p:nvPr/>
        </p:nvSpPr>
        <p:spPr>
          <a:xfrm>
            <a:off x="594360" y="285292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5</a:t>
            </a:r>
            <a:endParaRPr lang="en-US" sz="2200" dirty="0"/>
          </a:p>
        </p:txBody>
      </p:sp>
      <p:sp>
        <p:nvSpPr>
          <p:cNvPr id="21" name="Text 19"/>
          <p:cNvSpPr/>
          <p:nvPr/>
        </p:nvSpPr>
        <p:spPr>
          <a:xfrm>
            <a:off x="594360" y="324612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Memory — 3 types</a:t>
            </a:r>
            <a:endParaRPr lang="en-US" sz="1250" dirty="0"/>
          </a:p>
        </p:txBody>
      </p:sp>
      <p:sp>
        <p:nvSpPr>
          <p:cNvPr id="22" name="Text 20"/>
          <p:cNvSpPr/>
          <p:nvPr/>
        </p:nvSpPr>
        <p:spPr>
          <a:xfrm>
            <a:off x="594360" y="365760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working · episodic · semantic</a:t>
            </a:r>
            <a:endParaRPr lang="en-US" sz="1000" dirty="0"/>
          </a:p>
        </p:txBody>
      </p:sp>
      <p:sp>
        <p:nvSpPr>
          <p:cNvPr id="23" name="Shape 21"/>
          <p:cNvSpPr/>
          <p:nvPr/>
        </p:nvSpPr>
        <p:spPr>
          <a:xfrm>
            <a:off x="2560320" y="274320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24" name="Text 22"/>
          <p:cNvSpPr/>
          <p:nvPr/>
        </p:nvSpPr>
        <p:spPr>
          <a:xfrm>
            <a:off x="2697480" y="285292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6</a:t>
            </a:r>
            <a:endParaRPr lang="en-US" sz="2200" dirty="0"/>
          </a:p>
        </p:txBody>
      </p:sp>
      <p:sp>
        <p:nvSpPr>
          <p:cNvPr id="25" name="Text 23"/>
          <p:cNvSpPr/>
          <p:nvPr/>
        </p:nvSpPr>
        <p:spPr>
          <a:xfrm>
            <a:off x="2697480" y="324612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RAG with citations</a:t>
            </a:r>
            <a:endParaRPr lang="en-US" sz="1250" dirty="0"/>
          </a:p>
        </p:txBody>
      </p:sp>
      <p:sp>
        <p:nvSpPr>
          <p:cNvPr id="26" name="Text 24"/>
          <p:cNvSpPr/>
          <p:nvPr/>
        </p:nvSpPr>
        <p:spPr>
          <a:xfrm>
            <a:off x="2697480" y="365760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10-K Items 1/1A/7 → ‘Item 1A ¶7’</a:t>
            </a:r>
            <a:endParaRPr lang="en-US" sz="1000" dirty="0"/>
          </a:p>
        </p:txBody>
      </p:sp>
      <p:sp>
        <p:nvSpPr>
          <p:cNvPr id="27" name="Shape 25"/>
          <p:cNvSpPr/>
          <p:nvPr/>
        </p:nvSpPr>
        <p:spPr>
          <a:xfrm>
            <a:off x="4663440" y="2743200"/>
            <a:ext cx="1920240" cy="1463040"/>
          </a:xfrm>
          <a:prstGeom prst="roundRect">
            <a:avLst>
              <a:gd name="adj" fmla="val 5000"/>
            </a:avLst>
          </a:prstGeom>
          <a:solidFill>
            <a:srgbClr val="FFFFFF"/>
          </a:solidFill>
          <a:ln w="9525">
            <a:solidFill>
              <a:srgbClr val="D8DFE8"/>
            </a:solidFill>
            <a:prstDash val="solid"/>
          </a:ln>
          <a:effectLst>
            <a:outerShdw sx="100000" sy="100000" kx="0" ky="0" algn="bl" rotWithShape="0" blurRad="50800" dist="19050" dir="5400000">
              <a:srgbClr val="000000">
                <a:alpha val="8000"/>
              </a:srgbClr>
            </a:outerShdw>
          </a:effectLst>
        </p:spPr>
      </p:sp>
      <p:sp>
        <p:nvSpPr>
          <p:cNvPr id="28" name="Text 26"/>
          <p:cNvSpPr/>
          <p:nvPr/>
        </p:nvSpPr>
        <p:spPr>
          <a:xfrm>
            <a:off x="4800600" y="2852928"/>
            <a:ext cx="457200" cy="365760"/>
          </a:xfrm>
          <a:prstGeom prst="rect">
            <a:avLst/>
          </a:prstGeom>
          <a:noFill/>
          <a:ln/>
        </p:spPr>
        <p:txBody>
          <a:bodyPr wrap="square" lIns="0" tIns="0" rIns="0" bIns="0" rtlCol="0" anchor="ctr"/>
          <a:lstStyle/>
          <a:p>
            <a:pPr indent="0" marL="0">
              <a:buNone/>
            </a:pPr>
            <a:r>
              <a:rPr lang="en-US" sz="2200" b="1" dirty="0">
                <a:solidFill>
                  <a:srgbClr val="16324F"/>
                </a:solidFill>
                <a:latin typeface="Cambria" pitchFamily="34" charset="0"/>
                <a:ea typeface="Cambria" pitchFamily="34" charset="-122"/>
                <a:cs typeface="Cambria" pitchFamily="34" charset="-120"/>
              </a:rPr>
              <a:t>7</a:t>
            </a:r>
            <a:endParaRPr lang="en-US" sz="2200" dirty="0"/>
          </a:p>
        </p:txBody>
      </p:sp>
      <p:sp>
        <p:nvSpPr>
          <p:cNvPr id="29" name="Text 27"/>
          <p:cNvSpPr/>
          <p:nvPr/>
        </p:nvSpPr>
        <p:spPr>
          <a:xfrm>
            <a:off x="4800600" y="324612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Guardrails + eval harness</a:t>
            </a:r>
            <a:endParaRPr lang="en-US" sz="1250" dirty="0"/>
          </a:p>
        </p:txBody>
      </p:sp>
      <p:sp>
        <p:nvSpPr>
          <p:cNvPr id="30" name="Text 28"/>
          <p:cNvSpPr/>
          <p:nvPr/>
        </p:nvSpPr>
        <p:spPr>
          <a:xfrm>
            <a:off x="4800600" y="365760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input/output/weight guards · 12-case eval, 3 arms</a:t>
            </a:r>
            <a:endParaRPr lang="en-US" sz="1000" dirty="0"/>
          </a:p>
        </p:txBody>
      </p:sp>
      <p:sp>
        <p:nvSpPr>
          <p:cNvPr id="31" name="Shape 29"/>
          <p:cNvSpPr/>
          <p:nvPr/>
        </p:nvSpPr>
        <p:spPr>
          <a:xfrm>
            <a:off x="6766560" y="2743200"/>
            <a:ext cx="1920240" cy="1463040"/>
          </a:xfrm>
          <a:prstGeom prst="roundRect">
            <a:avLst>
              <a:gd name="adj" fmla="val 5000"/>
            </a:avLst>
          </a:prstGeom>
          <a:solidFill>
            <a:srgbClr val="FFFFFF"/>
          </a:solidFill>
          <a:ln w="19050">
            <a:solidFill>
              <a:srgbClr val="B5893A"/>
            </a:solidFill>
            <a:prstDash val="solid"/>
          </a:ln>
          <a:effectLst>
            <a:outerShdw sx="100000" sy="100000" kx="0" ky="0" algn="bl" rotWithShape="0" blurRad="50800" dist="19050" dir="5400000">
              <a:srgbClr val="000000">
                <a:alpha val="8000"/>
              </a:srgbClr>
            </a:outerShdw>
          </a:effectLst>
        </p:spPr>
      </p:sp>
      <p:sp>
        <p:nvSpPr>
          <p:cNvPr id="32" name="Text 30"/>
          <p:cNvSpPr/>
          <p:nvPr/>
        </p:nvSpPr>
        <p:spPr>
          <a:xfrm>
            <a:off x="6903720" y="2852928"/>
            <a:ext cx="457200" cy="365760"/>
          </a:xfrm>
          <a:prstGeom prst="rect">
            <a:avLst/>
          </a:prstGeom>
          <a:noFill/>
          <a:ln/>
        </p:spPr>
        <p:txBody>
          <a:bodyPr wrap="square" lIns="0" tIns="0" rIns="0" bIns="0" rtlCol="0" anchor="ctr"/>
          <a:lstStyle/>
          <a:p>
            <a:pPr indent="0" marL="0">
              <a:buNone/>
            </a:pPr>
            <a:r>
              <a:rPr lang="en-US" sz="2200" b="1" dirty="0">
                <a:solidFill>
                  <a:srgbClr val="B5893A"/>
                </a:solidFill>
                <a:latin typeface="Cambria" pitchFamily="34" charset="0"/>
                <a:ea typeface="Cambria" pitchFamily="34" charset="-122"/>
                <a:cs typeface="Cambria" pitchFamily="34" charset="-120"/>
              </a:rPr>
              <a:t>8</a:t>
            </a:r>
            <a:endParaRPr lang="en-US" sz="2200" dirty="0"/>
          </a:p>
        </p:txBody>
      </p:sp>
      <p:sp>
        <p:nvSpPr>
          <p:cNvPr id="33" name="Text 31"/>
          <p:cNvSpPr/>
          <p:nvPr/>
        </p:nvSpPr>
        <p:spPr>
          <a:xfrm>
            <a:off x="6903720" y="3246120"/>
            <a:ext cx="1691640" cy="45720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NOT: LLM planning (ReAct)</a:t>
            </a:r>
            <a:endParaRPr lang="en-US" sz="1250" dirty="0"/>
          </a:p>
        </p:txBody>
      </p:sp>
      <p:sp>
        <p:nvSpPr>
          <p:cNvPr id="34" name="Text 32"/>
          <p:cNvSpPr/>
          <p:nvPr/>
        </p:nvSpPr>
        <p:spPr>
          <a:xfrm>
            <a:off x="6903720" y="3657600"/>
            <a:ext cx="169164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known workflow shape → deterministic orchestrator instead</a:t>
            </a:r>
            <a:endParaRPr lang="en-US" sz="1000" dirty="0"/>
          </a:p>
        </p:txBody>
      </p:sp>
      <p:sp>
        <p:nvSpPr>
          <p:cNvPr id="35" name="Text 33"/>
          <p:cNvSpPr/>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6B7686"/>
                </a:solidFill>
                <a:latin typeface="Calibri" pitchFamily="34" charset="0"/>
                <a:ea typeface="Calibri" pitchFamily="34" charset="-122"/>
                <a:cs typeface="Calibri" pitchFamily="34" charset="-120"/>
              </a:rPr>
              <a:t>Each pattern is exercised by a named test in tests/ — 27 tests run fully offline against fixtures and a scripted model.</a:t>
            </a:r>
            <a:endParaRPr lang="en-US" sz="1050" dirty="0"/>
          </a:p>
        </p:txBody>
      </p:sp>
      <p:sp>
        <p:nvSpPr>
          <p:cNvPr id="36" name="Text 34"/>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The product: a one-page, fully cited report</a:t>
            </a:r>
            <a:endParaRPr lang="en-US" sz="2600" dirty="0"/>
          </a:p>
        </p:txBody>
      </p:sp>
      <p:pic>
        <p:nvPicPr>
          <p:cNvPr id="3" name="Image 0" descr="/home/claude/deck/nvda-1.png">    </p:cNvPr>
          <p:cNvPicPr>
            <a:picLocks noChangeAspect="1"/>
          </p:cNvPicPr>
          <p:nvPr/>
        </p:nvPicPr>
        <p:blipFill>
          <a:blip r:embed="rId1"/>
          <a:stretch>
            <a:fillRect/>
          </a:stretch>
        </p:blipFill>
        <p:spPr>
          <a:xfrm>
            <a:off x="457200" y="914400"/>
            <a:ext cx="3017520" cy="3904488"/>
          </a:xfrm>
          <a:prstGeom prst="rect">
            <a:avLst/>
          </a:prstGeom>
          <a:effectLst>
            <a:outerShdw sx="100000" sy="100000" kx="0" ky="0" algn="bl" rotWithShape="0" blurRad="76200" dist="25400" dir="5400000">
              <a:srgbClr val="000000">
                <a:alpha val="18000"/>
              </a:srgbClr>
            </a:outerShdw>
          </a:effectLst>
        </p:spPr>
      </p:pic>
      <p:sp>
        <p:nvSpPr>
          <p:cNvPr id="4" name="Shape 1"/>
          <p:cNvSpPr/>
          <p:nvPr/>
        </p:nvSpPr>
        <p:spPr>
          <a:xfrm>
            <a:off x="3840480" y="978408"/>
            <a:ext cx="128016" cy="128016"/>
          </a:xfrm>
          <a:prstGeom prst="ellipse">
            <a:avLst/>
          </a:prstGeom>
          <a:solidFill>
            <a:srgbClr val="B5893A"/>
          </a:solidFill>
          <a:ln w="12700">
            <a:solidFill>
              <a:srgbClr val="B5893A"/>
            </a:solidFill>
            <a:prstDash val="solid"/>
          </a:ln>
        </p:spPr>
      </p:sp>
      <p:sp>
        <p:nvSpPr>
          <p:cNvPr id="5" name="Text 2"/>
          <p:cNvSpPr/>
          <p:nvPr/>
        </p:nvSpPr>
        <p:spPr>
          <a:xfrm>
            <a:off x="4114800" y="91440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Snapshot</a:t>
            </a:r>
            <a:endParaRPr lang="en-US" sz="1350" dirty="0"/>
          </a:p>
        </p:txBody>
      </p:sp>
      <p:sp>
        <p:nvSpPr>
          <p:cNvPr id="6" name="Text 3"/>
          <p:cNvSpPr/>
          <p:nvPr/>
        </p:nvSpPr>
        <p:spPr>
          <a:xfrm>
            <a:off x="4114800" y="116128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growth, margins, Rule of 40, debt, P/E, analyst consensus, retail sentiment — every row sourced</a:t>
            </a:r>
            <a:endParaRPr lang="en-US" sz="1050" dirty="0"/>
          </a:p>
        </p:txBody>
      </p:sp>
      <p:sp>
        <p:nvSpPr>
          <p:cNvPr id="7" name="Shape 4"/>
          <p:cNvSpPr/>
          <p:nvPr/>
        </p:nvSpPr>
        <p:spPr>
          <a:xfrm>
            <a:off x="3840480" y="1618488"/>
            <a:ext cx="128016" cy="128016"/>
          </a:xfrm>
          <a:prstGeom prst="ellipse">
            <a:avLst/>
          </a:prstGeom>
          <a:solidFill>
            <a:srgbClr val="B5893A"/>
          </a:solidFill>
          <a:ln w="12700">
            <a:solidFill>
              <a:srgbClr val="B5893A"/>
            </a:solidFill>
            <a:prstDash val="solid"/>
          </a:ln>
        </p:spPr>
      </p:sp>
      <p:sp>
        <p:nvSpPr>
          <p:cNvPr id="8" name="Text 5"/>
          <p:cNvSpPr/>
          <p:nvPr/>
        </p:nvSpPr>
        <p:spPr>
          <a:xfrm>
            <a:off x="4114800" y="155448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Bull case &amp; bear case</a:t>
            </a:r>
            <a:endParaRPr lang="en-US" sz="1350" dirty="0"/>
          </a:p>
        </p:txBody>
      </p:sp>
      <p:sp>
        <p:nvSpPr>
          <p:cNvPr id="9" name="Text 6"/>
          <p:cNvSpPr/>
          <p:nvPr/>
        </p:nvSpPr>
        <p:spPr>
          <a:xfrm>
            <a:off x="4114800" y="180136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3 bullets each; the critic rejects a bear case vaguer than the bull case</a:t>
            </a:r>
            <a:endParaRPr lang="en-US" sz="1050" dirty="0"/>
          </a:p>
        </p:txBody>
      </p:sp>
      <p:sp>
        <p:nvSpPr>
          <p:cNvPr id="10" name="Shape 7"/>
          <p:cNvSpPr/>
          <p:nvPr/>
        </p:nvSpPr>
        <p:spPr>
          <a:xfrm>
            <a:off x="3840480" y="2258568"/>
            <a:ext cx="128016" cy="128016"/>
          </a:xfrm>
          <a:prstGeom prst="ellipse">
            <a:avLst/>
          </a:prstGeom>
          <a:solidFill>
            <a:srgbClr val="B5893A"/>
          </a:solidFill>
          <a:ln w="12700">
            <a:solidFill>
              <a:srgbClr val="B5893A"/>
            </a:solidFill>
            <a:prstDash val="solid"/>
          </a:ln>
        </p:spPr>
      </p:sp>
      <p:sp>
        <p:nvSpPr>
          <p:cNvPr id="11" name="Text 8"/>
          <p:cNvSpPr/>
          <p:nvPr/>
        </p:nvSpPr>
        <p:spPr>
          <a:xfrm>
            <a:off x="4114800" y="219456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12-month scenarios</a:t>
            </a:r>
            <a:endParaRPr lang="en-US" sz="1350" dirty="0"/>
          </a:p>
        </p:txBody>
      </p:sp>
      <p:sp>
        <p:nvSpPr>
          <p:cNvPr id="12" name="Text 9"/>
          <p:cNvSpPr/>
          <p:nvPr/>
        </p:nvSpPr>
        <p:spPr>
          <a:xfrm>
            <a:off x="4114800" y="244144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bear/base/bull EPS × own P/E bands → implied prices; Claude’s weighted view beside the analyst mean</a:t>
            </a:r>
            <a:endParaRPr lang="en-US" sz="1050" dirty="0"/>
          </a:p>
        </p:txBody>
      </p:sp>
      <p:sp>
        <p:nvSpPr>
          <p:cNvPr id="13" name="Shape 10"/>
          <p:cNvSpPr/>
          <p:nvPr/>
        </p:nvSpPr>
        <p:spPr>
          <a:xfrm>
            <a:off x="3840480" y="2898648"/>
            <a:ext cx="128016" cy="128016"/>
          </a:xfrm>
          <a:prstGeom prst="ellipse">
            <a:avLst/>
          </a:prstGeom>
          <a:solidFill>
            <a:srgbClr val="B5893A"/>
          </a:solidFill>
          <a:ln w="12700">
            <a:solidFill>
              <a:srgbClr val="B5893A"/>
            </a:solidFill>
            <a:prstDash val="solid"/>
          </a:ln>
        </p:spPr>
      </p:sp>
      <p:sp>
        <p:nvSpPr>
          <p:cNvPr id="14" name="Text 11"/>
          <p:cNvSpPr/>
          <p:nvPr/>
        </p:nvSpPr>
        <p:spPr>
          <a:xfrm>
            <a:off x="4114800" y="283464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Sentiment check</a:t>
            </a:r>
            <a:endParaRPr lang="en-US" sz="1350" dirty="0"/>
          </a:p>
        </p:txBody>
      </p:sp>
      <p:sp>
        <p:nvSpPr>
          <p:cNvPr id="15" name="Text 12"/>
          <p:cNvSpPr/>
          <p:nvPr/>
        </p:nvSpPr>
        <p:spPr>
          <a:xfrm>
            <a:off x="4114800" y="308152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cross-examines Street/retail mood against fundamentals — names the divergence</a:t>
            </a:r>
            <a:endParaRPr lang="en-US" sz="1050" dirty="0"/>
          </a:p>
        </p:txBody>
      </p:sp>
      <p:sp>
        <p:nvSpPr>
          <p:cNvPr id="16" name="Shape 13"/>
          <p:cNvSpPr/>
          <p:nvPr/>
        </p:nvSpPr>
        <p:spPr>
          <a:xfrm>
            <a:off x="3840480" y="3538728"/>
            <a:ext cx="128016" cy="128016"/>
          </a:xfrm>
          <a:prstGeom prst="ellipse">
            <a:avLst/>
          </a:prstGeom>
          <a:solidFill>
            <a:srgbClr val="B5893A"/>
          </a:solidFill>
          <a:ln w="12700">
            <a:solidFill>
              <a:srgbClr val="B5893A"/>
            </a:solidFill>
            <a:prstDash val="solid"/>
          </a:ln>
        </p:spPr>
      </p:sp>
      <p:sp>
        <p:nvSpPr>
          <p:cNvPr id="17" name="Text 14"/>
          <p:cNvSpPr/>
          <p:nvPr/>
        </p:nvSpPr>
        <p:spPr>
          <a:xfrm>
            <a:off x="4114800" y="347472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Since last analysis</a:t>
            </a:r>
            <a:endParaRPr lang="en-US" sz="1350" dirty="0"/>
          </a:p>
        </p:txBody>
      </p:sp>
      <p:sp>
        <p:nvSpPr>
          <p:cNvPr id="18" name="Text 15"/>
          <p:cNvSpPr/>
          <p:nvPr/>
        </p:nvSpPr>
        <p:spPr>
          <a:xfrm>
            <a:off x="4114800" y="372160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episodic memory: price change, new findings, weight shifts</a:t>
            </a:r>
            <a:endParaRPr lang="en-US" sz="1050" dirty="0"/>
          </a:p>
        </p:txBody>
      </p:sp>
      <p:sp>
        <p:nvSpPr>
          <p:cNvPr id="19" name="Shape 16"/>
          <p:cNvSpPr/>
          <p:nvPr/>
        </p:nvSpPr>
        <p:spPr>
          <a:xfrm>
            <a:off x="3840480" y="4178808"/>
            <a:ext cx="128016" cy="128016"/>
          </a:xfrm>
          <a:prstGeom prst="ellipse">
            <a:avLst/>
          </a:prstGeom>
          <a:solidFill>
            <a:srgbClr val="B5893A"/>
          </a:solidFill>
          <a:ln w="12700">
            <a:solidFill>
              <a:srgbClr val="B5893A"/>
            </a:solidFill>
            <a:prstDash val="solid"/>
          </a:ln>
        </p:spPr>
      </p:sp>
      <p:sp>
        <p:nvSpPr>
          <p:cNvPr id="20" name="Text 17"/>
          <p:cNvSpPr/>
          <p:nvPr/>
        </p:nvSpPr>
        <p:spPr>
          <a:xfrm>
            <a:off x="4114800" y="4114800"/>
            <a:ext cx="4572000" cy="256032"/>
          </a:xfrm>
          <a:prstGeom prst="rect">
            <a:avLst/>
          </a:prstGeom>
          <a:noFill/>
          <a:ln/>
        </p:spPr>
        <p:txBody>
          <a:bodyPr wrap="square" lIns="0" tIns="0" rIns="0" bIns="0" rtlCol="0" anchor="ctr"/>
          <a:lstStyle/>
          <a:p>
            <a:pPr indent="0" marL="0">
              <a:buNone/>
            </a:pPr>
            <a:r>
              <a:rPr lang="en-US" sz="1350" b="1" dirty="0">
                <a:solidFill>
                  <a:srgbClr val="1A2332"/>
                </a:solidFill>
                <a:latin typeface="Calibri" pitchFamily="34" charset="0"/>
                <a:ea typeface="Calibri" pitchFamily="34" charset="-122"/>
                <a:cs typeface="Calibri" pitchFamily="34" charset="-120"/>
              </a:rPr>
              <a:t>Sources + disclaimer</a:t>
            </a:r>
            <a:endParaRPr lang="en-US" sz="1350" dirty="0"/>
          </a:p>
        </p:txBody>
      </p:sp>
      <p:sp>
        <p:nvSpPr>
          <p:cNvPr id="21" name="Text 18"/>
          <p:cNvSpPr/>
          <p:nvPr/>
        </p:nvSpPr>
        <p:spPr>
          <a:xfrm>
            <a:off x="4114800" y="4361688"/>
            <a:ext cx="4572000" cy="36576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numbered, paragraph-level 10-K citations; ‘not investment advice’ enforced by the guard</a:t>
            </a:r>
            <a:endParaRPr lang="en-US" sz="1050" dirty="0"/>
          </a:p>
        </p:txBody>
      </p:sp>
      <p:sp>
        <p:nvSpPr>
          <p:cNvPr id="22" name="Text 19"/>
          <p:cNvSpPr/>
          <p:nvPr/>
        </p:nvSpPr>
        <p:spPr>
          <a:xfrm>
            <a:off x="457200" y="4590288"/>
            <a:ext cx="3017520" cy="228600"/>
          </a:xfrm>
          <a:prstGeom prst="rect">
            <a:avLst/>
          </a:prstGeom>
          <a:noFill/>
          <a:ln/>
        </p:spPr>
        <p:txBody>
          <a:bodyPr wrap="square" lIns="0" tIns="0" rIns="0" bIns="0" rtlCol="0" anchor="ctr"/>
          <a:lstStyle/>
          <a:p>
            <a:pPr indent="0" marL="0">
              <a:buNone/>
            </a:pPr>
            <a:r>
              <a:rPr lang="en-US" sz="850" i="1" dirty="0">
                <a:solidFill>
                  <a:srgbClr val="6B7686"/>
                </a:solidFill>
                <a:latin typeface="Calibri" pitchFamily="34" charset="0"/>
                <a:ea typeface="Calibri" pitchFamily="34" charset="-122"/>
                <a:cs typeface="Calibri" pitchFamily="34" charset="-120"/>
              </a:rPr>
              <a:t>Live NVDA report from the evaluation run (Aug 16, 2026)</a:t>
            </a:r>
            <a:endParaRPr lang="en-US" sz="850" dirty="0"/>
          </a:p>
        </p:txBody>
      </p:sp>
      <p:sp>
        <p:nvSpPr>
          <p:cNvPr id="23" name="Text 20"/>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Evaluation — 12 live cases, three arms</a:t>
            </a:r>
            <a:endParaRPr lang="en-US" sz="2600" dirty="0"/>
          </a:p>
        </p:txBody>
      </p:sp>
      <p:sp>
        <p:nvSpPr>
          <p:cNvPr id="3" name="Shape 1"/>
          <p:cNvSpPr/>
          <p:nvPr/>
        </p:nvSpPr>
        <p:spPr>
          <a:xfrm>
            <a:off x="457200" y="960120"/>
            <a:ext cx="1920240" cy="1143000"/>
          </a:xfrm>
          <a:prstGeom prst="roundRect">
            <a:avLst>
              <a:gd name="adj" fmla="val 6400"/>
            </a:avLst>
          </a:prstGeom>
          <a:solidFill>
            <a:srgbClr val="F3F5F8"/>
          </a:solidFill>
          <a:ln w="12700">
            <a:solidFill>
              <a:srgbClr val="F3F5F8"/>
            </a:solidFill>
            <a:prstDash val="solid"/>
          </a:ln>
        </p:spPr>
      </p:sp>
      <p:sp>
        <p:nvSpPr>
          <p:cNvPr id="4" name="Text 2"/>
          <p:cNvSpPr/>
          <p:nvPr/>
        </p:nvSpPr>
        <p:spPr>
          <a:xfrm>
            <a:off x="457200" y="1024128"/>
            <a:ext cx="1920240" cy="640080"/>
          </a:xfrm>
          <a:prstGeom prst="rect">
            <a:avLst/>
          </a:prstGeom>
          <a:noFill/>
          <a:ln/>
        </p:spPr>
        <p:txBody>
          <a:bodyPr wrap="square" lIns="0" tIns="0" rIns="0" bIns="0" rtlCol="0" anchor="ctr"/>
          <a:lstStyle/>
          <a:p>
            <a:pPr algn="ctr" indent="0" marL="0">
              <a:buNone/>
            </a:pPr>
            <a:r>
              <a:rPr lang="en-US" sz="3200" b="1" dirty="0">
                <a:solidFill>
                  <a:srgbClr val="16324F"/>
                </a:solidFill>
                <a:latin typeface="Cambria" pitchFamily="34" charset="0"/>
                <a:ea typeface="Cambria" pitchFamily="34" charset="-122"/>
                <a:cs typeface="Cambria" pitchFamily="34" charset="-120"/>
              </a:rPr>
              <a:t>12 / 12</a:t>
            </a:r>
            <a:endParaRPr lang="en-US" sz="3200" dirty="0"/>
          </a:p>
        </p:txBody>
      </p:sp>
      <p:sp>
        <p:nvSpPr>
          <p:cNvPr id="5" name="Text 3"/>
          <p:cNvSpPr/>
          <p:nvPr/>
        </p:nvSpPr>
        <p:spPr>
          <a:xfrm>
            <a:off x="548640" y="1645920"/>
            <a:ext cx="1737360" cy="411480"/>
          </a:xfrm>
          <a:prstGeom prst="rect">
            <a:avLst/>
          </a:prstGeom>
          <a:noFill/>
          <a:ln/>
        </p:spPr>
        <p:txBody>
          <a:bodyPr wrap="square" lIns="0" tIns="0" rIns="0" bIns="0" rtlCol="0" anchor="ctr"/>
          <a:lstStyle/>
          <a:p>
            <a:pPr algn="ctr" indent="0" marL="0">
              <a:buNone/>
            </a:pPr>
            <a:r>
              <a:rPr lang="en-US" sz="1050" dirty="0">
                <a:solidFill>
                  <a:srgbClr val="6B7686"/>
                </a:solidFill>
                <a:latin typeface="Calibri" pitchFamily="34" charset="0"/>
                <a:ea typeface="Calibri" pitchFamily="34" charset="-122"/>
                <a:cs typeface="Calibri" pitchFamily="34" charset="-120"/>
              </a:rPr>
              <a:t>task success</a:t>
            </a:r>
            <a:endParaRPr lang="en-US" sz="1050" dirty="0"/>
          </a:p>
        </p:txBody>
      </p:sp>
      <p:sp>
        <p:nvSpPr>
          <p:cNvPr id="6" name="Shape 4"/>
          <p:cNvSpPr/>
          <p:nvPr/>
        </p:nvSpPr>
        <p:spPr>
          <a:xfrm>
            <a:off x="2560320" y="960120"/>
            <a:ext cx="1920240" cy="1143000"/>
          </a:xfrm>
          <a:prstGeom prst="roundRect">
            <a:avLst>
              <a:gd name="adj" fmla="val 6400"/>
            </a:avLst>
          </a:prstGeom>
          <a:solidFill>
            <a:srgbClr val="F3F5F8"/>
          </a:solidFill>
          <a:ln w="12700">
            <a:solidFill>
              <a:srgbClr val="F3F5F8"/>
            </a:solidFill>
            <a:prstDash val="solid"/>
          </a:ln>
        </p:spPr>
      </p:sp>
      <p:sp>
        <p:nvSpPr>
          <p:cNvPr id="7" name="Text 5"/>
          <p:cNvSpPr/>
          <p:nvPr/>
        </p:nvSpPr>
        <p:spPr>
          <a:xfrm>
            <a:off x="2560320" y="1024128"/>
            <a:ext cx="1920240" cy="640080"/>
          </a:xfrm>
          <a:prstGeom prst="rect">
            <a:avLst/>
          </a:prstGeom>
          <a:noFill/>
          <a:ln/>
        </p:spPr>
        <p:txBody>
          <a:bodyPr wrap="square" lIns="0" tIns="0" rIns="0" bIns="0" rtlCol="0" anchor="ctr"/>
          <a:lstStyle/>
          <a:p>
            <a:pPr algn="ctr" indent="0" marL="0">
              <a:buNone/>
            </a:pPr>
            <a:r>
              <a:rPr lang="en-US" sz="3200" b="1" dirty="0">
                <a:solidFill>
                  <a:srgbClr val="16324F"/>
                </a:solidFill>
                <a:latin typeface="Cambria" pitchFamily="34" charset="0"/>
                <a:ea typeface="Cambria" pitchFamily="34" charset="-122"/>
                <a:cs typeface="Cambria" pitchFamily="34" charset="-120"/>
              </a:rPr>
              <a:t>0.936</a:t>
            </a:r>
            <a:endParaRPr lang="en-US" sz="3200" dirty="0"/>
          </a:p>
        </p:txBody>
      </p:sp>
      <p:sp>
        <p:nvSpPr>
          <p:cNvPr id="8" name="Text 6"/>
          <p:cNvSpPr/>
          <p:nvPr/>
        </p:nvSpPr>
        <p:spPr>
          <a:xfrm>
            <a:off x="2651760" y="1645920"/>
            <a:ext cx="1737360" cy="411480"/>
          </a:xfrm>
          <a:prstGeom prst="rect">
            <a:avLst/>
          </a:prstGeom>
          <a:noFill/>
          <a:ln/>
        </p:spPr>
        <p:txBody>
          <a:bodyPr wrap="square" lIns="0" tIns="0" rIns="0" bIns="0" rtlCol="0" anchor="ctr"/>
          <a:lstStyle/>
          <a:p>
            <a:pPr algn="ctr" indent="0" marL="0">
              <a:buNone/>
            </a:pPr>
            <a:r>
              <a:rPr lang="en-US" sz="1050" dirty="0">
                <a:solidFill>
                  <a:srgbClr val="6B7686"/>
                </a:solidFill>
                <a:latin typeface="Calibri" pitchFamily="34" charset="0"/>
                <a:ea typeface="Calibri" pitchFamily="34" charset="-122"/>
                <a:cs typeface="Calibri" pitchFamily="34" charset="-120"/>
              </a:rPr>
              <a:t>mean citation coverage</a:t>
            </a:r>
            <a:endParaRPr lang="en-US" sz="1050" dirty="0"/>
          </a:p>
        </p:txBody>
      </p:sp>
      <p:sp>
        <p:nvSpPr>
          <p:cNvPr id="9" name="Shape 7"/>
          <p:cNvSpPr/>
          <p:nvPr/>
        </p:nvSpPr>
        <p:spPr>
          <a:xfrm>
            <a:off x="4663440" y="960120"/>
            <a:ext cx="1920240" cy="1143000"/>
          </a:xfrm>
          <a:prstGeom prst="roundRect">
            <a:avLst>
              <a:gd name="adj" fmla="val 6400"/>
            </a:avLst>
          </a:prstGeom>
          <a:solidFill>
            <a:srgbClr val="F3F5F8"/>
          </a:solidFill>
          <a:ln w="12700">
            <a:solidFill>
              <a:srgbClr val="F3F5F8"/>
            </a:solidFill>
            <a:prstDash val="solid"/>
          </a:ln>
        </p:spPr>
      </p:sp>
      <p:sp>
        <p:nvSpPr>
          <p:cNvPr id="10" name="Text 8"/>
          <p:cNvSpPr/>
          <p:nvPr/>
        </p:nvSpPr>
        <p:spPr>
          <a:xfrm>
            <a:off x="4663440" y="1024128"/>
            <a:ext cx="1920240" cy="640080"/>
          </a:xfrm>
          <a:prstGeom prst="rect">
            <a:avLst/>
          </a:prstGeom>
          <a:noFill/>
          <a:ln/>
        </p:spPr>
        <p:txBody>
          <a:bodyPr wrap="square" lIns="0" tIns="0" rIns="0" bIns="0" rtlCol="0" anchor="ctr"/>
          <a:lstStyle/>
          <a:p>
            <a:pPr algn="ctr" indent="0" marL="0">
              <a:buNone/>
            </a:pPr>
            <a:r>
              <a:rPr lang="en-US" sz="3200" b="1" dirty="0">
                <a:solidFill>
                  <a:srgbClr val="16324F"/>
                </a:solidFill>
                <a:latin typeface="Cambria" pitchFamily="34" charset="0"/>
                <a:ea typeface="Cambria" pitchFamily="34" charset="-122"/>
                <a:cs typeface="Cambria" pitchFamily="34" charset="-120"/>
              </a:rPr>
              <a:t>$0.11</a:t>
            </a:r>
            <a:endParaRPr lang="en-US" sz="3200" dirty="0"/>
          </a:p>
        </p:txBody>
      </p:sp>
      <p:sp>
        <p:nvSpPr>
          <p:cNvPr id="11" name="Text 9"/>
          <p:cNvSpPr/>
          <p:nvPr/>
        </p:nvSpPr>
        <p:spPr>
          <a:xfrm>
            <a:off x="4754880" y="1645920"/>
            <a:ext cx="1737360" cy="411480"/>
          </a:xfrm>
          <a:prstGeom prst="rect">
            <a:avLst/>
          </a:prstGeom>
          <a:noFill/>
          <a:ln/>
        </p:spPr>
        <p:txBody>
          <a:bodyPr wrap="square" lIns="0" tIns="0" rIns="0" bIns="0" rtlCol="0" anchor="ctr"/>
          <a:lstStyle/>
          <a:p>
            <a:pPr algn="ctr" indent="0" marL="0">
              <a:buNone/>
            </a:pPr>
            <a:r>
              <a:rPr lang="en-US" sz="1050" dirty="0">
                <a:solidFill>
                  <a:srgbClr val="6B7686"/>
                </a:solidFill>
                <a:latin typeface="Calibri" pitchFamily="34" charset="0"/>
                <a:ea typeface="Calibri" pitchFamily="34" charset="-122"/>
                <a:cs typeface="Calibri" pitchFamily="34" charset="-120"/>
              </a:rPr>
              <a:t>per full report</a:t>
            </a:r>
            <a:endParaRPr lang="en-US" sz="1050" dirty="0"/>
          </a:p>
        </p:txBody>
      </p:sp>
      <p:sp>
        <p:nvSpPr>
          <p:cNvPr id="12" name="Shape 10"/>
          <p:cNvSpPr/>
          <p:nvPr/>
        </p:nvSpPr>
        <p:spPr>
          <a:xfrm>
            <a:off x="6766560" y="960120"/>
            <a:ext cx="1920240" cy="1143000"/>
          </a:xfrm>
          <a:prstGeom prst="roundRect">
            <a:avLst>
              <a:gd name="adj" fmla="val 6400"/>
            </a:avLst>
          </a:prstGeom>
          <a:solidFill>
            <a:srgbClr val="F3F5F8"/>
          </a:solidFill>
          <a:ln w="12700">
            <a:solidFill>
              <a:srgbClr val="F3F5F8"/>
            </a:solidFill>
            <a:prstDash val="solid"/>
          </a:ln>
        </p:spPr>
      </p:sp>
      <p:sp>
        <p:nvSpPr>
          <p:cNvPr id="13" name="Text 11"/>
          <p:cNvSpPr/>
          <p:nvPr/>
        </p:nvSpPr>
        <p:spPr>
          <a:xfrm>
            <a:off x="6766560" y="1024128"/>
            <a:ext cx="1920240" cy="640080"/>
          </a:xfrm>
          <a:prstGeom prst="rect">
            <a:avLst/>
          </a:prstGeom>
          <a:noFill/>
          <a:ln/>
        </p:spPr>
        <p:txBody>
          <a:bodyPr wrap="square" lIns="0" tIns="0" rIns="0" bIns="0" rtlCol="0" anchor="ctr"/>
          <a:lstStyle/>
          <a:p>
            <a:pPr algn="ctr" indent="0" marL="0">
              <a:buNone/>
            </a:pPr>
            <a:r>
              <a:rPr lang="en-US" sz="3200" b="1" dirty="0">
                <a:solidFill>
                  <a:srgbClr val="16324F"/>
                </a:solidFill>
                <a:latin typeface="Cambria" pitchFamily="34" charset="0"/>
                <a:ea typeface="Cambria" pitchFamily="34" charset="-122"/>
                <a:cs typeface="Cambria" pitchFamily="34" charset="-120"/>
              </a:rPr>
              <a:t>±3 pts</a:t>
            </a:r>
            <a:endParaRPr lang="en-US" sz="3200" dirty="0"/>
          </a:p>
        </p:txBody>
      </p:sp>
      <p:sp>
        <p:nvSpPr>
          <p:cNvPr id="14" name="Text 12"/>
          <p:cNvSpPr/>
          <p:nvPr/>
        </p:nvSpPr>
        <p:spPr>
          <a:xfrm>
            <a:off x="6858000" y="1645920"/>
            <a:ext cx="1737360" cy="411480"/>
          </a:xfrm>
          <a:prstGeom prst="rect">
            <a:avLst/>
          </a:prstGeom>
          <a:noFill/>
          <a:ln/>
        </p:spPr>
        <p:txBody>
          <a:bodyPr wrap="square" lIns="0" tIns="0" rIns="0" bIns="0" rtlCol="0" anchor="ctr"/>
          <a:lstStyle/>
          <a:p>
            <a:pPr algn="ctr" indent="0" marL="0">
              <a:buNone/>
            </a:pPr>
            <a:r>
              <a:rPr lang="en-US" sz="1050" dirty="0">
                <a:solidFill>
                  <a:srgbClr val="6B7686"/>
                </a:solidFill>
                <a:latin typeface="Calibri" pitchFamily="34" charset="0"/>
                <a:ea typeface="Calibri" pitchFamily="34" charset="-122"/>
                <a:cs typeface="Calibri" pitchFamily="34" charset="-120"/>
              </a:rPr>
              <a:t>weight stability (5 runs, max σ 0.031)</a:t>
            </a:r>
            <a:endParaRPr lang="en-US" sz="1050" dirty="0"/>
          </a:p>
        </p:txBody>
      </p:sp>
      <p:sp>
        <p:nvSpPr>
          <p:cNvPr id="15" name="Text 13"/>
          <p:cNvSpPr/>
          <p:nvPr/>
        </p:nvSpPr>
        <p:spPr>
          <a:xfrm>
            <a:off x="457200" y="2286000"/>
            <a:ext cx="4754880" cy="27432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Ablation: Risk Critic on vs. off (full reports)</a:t>
            </a:r>
            <a:endParaRPr lang="en-US" sz="1250" dirty="0"/>
          </a:p>
        </p:txBody>
      </p:sp>
      <p:graphicFrame>
        <p:nvGraphicFramePr>
          <p:cNvPr id="16" name="Chart 0" descr=""/>
          <p:cNvGraphicFramePr/>
          <p:nvPr/>
        </p:nvGraphicFramePr>
        <p:xfrm>
          <a:off x="457200" y="2560320"/>
          <a:ext cx="4754880" cy="21031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486400" y="2286000"/>
            <a:ext cx="3200400" cy="27432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Cases</a:t>
            </a:r>
            <a:endParaRPr lang="en-US" sz="1250" dirty="0"/>
          </a:p>
        </p:txBody>
      </p:sp>
      <p:sp>
        <p:nvSpPr>
          <p:cNvPr id="18" name="Text 15"/>
          <p:cNvSpPr/>
          <p:nvPr/>
        </p:nvSpPr>
        <p:spPr>
          <a:xfrm>
            <a:off x="5486400" y="2560320"/>
            <a:ext cx="3200400" cy="2103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NVDA · MSFT · JPM (bank: Rule of 40 = n/a) · RDDT (recent IPO)</a:t>
            </a:r>
            <a:endParaRPr lang="en-US" sz="1050" dirty="0"/>
          </a:p>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RIVN — loss-making: scenario table correctly declined</a:t>
            </a:r>
            <a:endParaRPr lang="en-US" sz="1050" dirty="0"/>
          </a:p>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“nvidia” → name resolution · ZZZZ → clean error</a:t>
            </a:r>
            <a:endParaRPr lang="en-US" sz="1050" dirty="0"/>
          </a:p>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“NVDA — what’s their debt?” → cheap path, 1 call, cited</a:t>
            </a:r>
            <a:endParaRPr lang="en-US" sz="1050" dirty="0"/>
          </a:p>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“Should I buy NVDA?” → refused, $0</a:t>
            </a:r>
            <a:endParaRPr lang="en-US" sz="1050" dirty="0"/>
          </a:p>
          <a:p>
            <a:pPr marL="342900" indent="-342900">
              <a:spcAft>
                <a:spcPts val="400"/>
              </a:spcAft>
              <a:buSzPct val="100000"/>
              <a:buChar char="•"/>
            </a:pPr>
            <a:r>
              <a:rPr lang="en-US" sz="1050" dirty="0">
                <a:solidFill>
                  <a:srgbClr val="1A2332"/>
                </a:solidFill>
                <a:latin typeface="Calibri" pitchFamily="34" charset="0"/>
                <a:ea typeface="Calibri" pitchFamily="34" charset="-122"/>
                <a:cs typeface="Calibri" pitchFamily="34" charset="-120"/>
              </a:rPr>
              <a:t>re-run → since-last-analysis diff · news outage → degrades</a:t>
            </a:r>
            <a:endParaRPr lang="en-US" sz="1050" dirty="0"/>
          </a:p>
        </p:txBody>
      </p:sp>
      <p:sp>
        <p:nvSpPr>
          <p:cNvPr id="19" name="Text 16"/>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600" b="1" dirty="0">
                <a:solidFill>
                  <a:srgbClr val="16324F"/>
                </a:solidFill>
                <a:latin typeface="Cambria" pitchFamily="34" charset="0"/>
                <a:ea typeface="Cambria" pitchFamily="34" charset="-122"/>
                <a:cs typeface="Cambria" pitchFamily="34" charset="-120"/>
              </a:rPr>
              <a:t>Honest findings — what the eval actually taught me</a:t>
            </a:r>
            <a:endParaRPr lang="en-US" sz="2600" dirty="0"/>
          </a:p>
        </p:txBody>
      </p:sp>
      <p:sp>
        <p:nvSpPr>
          <p:cNvPr id="3" name="Shape 1"/>
          <p:cNvSpPr/>
          <p:nvPr/>
        </p:nvSpPr>
        <p:spPr>
          <a:xfrm>
            <a:off x="457200" y="960120"/>
            <a:ext cx="3931920" cy="3611880"/>
          </a:xfrm>
          <a:prstGeom prst="roundRect">
            <a:avLst>
              <a:gd name="adj" fmla="val 2025"/>
            </a:avLst>
          </a:prstGeom>
          <a:solidFill>
            <a:srgbClr val="FFFFFF"/>
          </a:solidFill>
          <a:ln w="9525">
            <a:solidFill>
              <a:srgbClr val="D8DFE8"/>
            </a:solidFill>
            <a:prstDash val="solid"/>
          </a:ln>
        </p:spPr>
      </p:sp>
      <p:sp>
        <p:nvSpPr>
          <p:cNvPr id="4" name="Text 2"/>
          <p:cNvSpPr/>
          <p:nvPr/>
        </p:nvSpPr>
        <p:spPr>
          <a:xfrm>
            <a:off x="640080" y="1051560"/>
            <a:ext cx="3566160" cy="5029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The critic barely moves the metrics — and that's the point</a:t>
            </a:r>
            <a:endParaRPr lang="en-US" sz="1400" dirty="0"/>
          </a:p>
        </p:txBody>
      </p:sp>
      <p:sp>
        <p:nvSpPr>
          <p:cNvPr id="5" name="Text 3"/>
          <p:cNvSpPr/>
          <p:nvPr/>
        </p:nvSpPr>
        <p:spPr>
          <a:xfrm>
            <a:off x="640080" y="1554480"/>
            <a:ext cx="3566160" cy="2926080"/>
          </a:xfrm>
          <a:prstGeom prst="rect">
            <a:avLst/>
          </a:prstGeom>
          <a:noFill/>
          <a:ln/>
        </p:spPr>
        <p:txBody>
          <a:bodyPr wrap="square" lIns="0" tIns="0" rIns="0" bIns="0" rtlCol="0" anchor="t"/>
          <a:lstStyle/>
          <a:p>
            <a:pPr indent="0" marL="0">
              <a:buNone/>
            </a:pPr>
            <a:r>
              <a:rPr lang="en-US" sz="1050" dirty="0">
                <a:solidFill>
                  <a:srgbClr val="1A2332"/>
                </a:solidFill>
                <a:latin typeface="Calibri" pitchFamily="34" charset="0"/>
                <a:ea typeface="Calibri" pitchFamily="34" charset="-122"/>
                <a:cs typeface="Calibri" pitchFamily="34" charset="-120"/>
              </a:rPr>
              <a:t>Critic off: same 12/12, coverage −0.4 pt, 24% cheaper, 23% faster.</a:t>
            </a:r>
            <a:endParaRPr lang="en-US" sz="1050" dirty="0"/>
          </a:p>
          <a:p>
            <a:pPr indent="0" marL="0">
              <a:buNone/>
            </a:pPr>
            <a:endParaRPr lang="en-US" sz="1050" dirty="0"/>
          </a:p>
          <a:p>
            <a:pPr indent="0" marL="0">
              <a:buNone/>
            </a:pPr>
            <a:r>
              <a:rPr lang="en-US" sz="1050" dirty="0">
                <a:solidFill>
                  <a:srgbClr val="1A2332"/>
                </a:solidFill>
                <a:latin typeface="Calibri" pitchFamily="34" charset="0"/>
                <a:ea typeface="Calibri" pitchFamily="34" charset="-122"/>
                <a:cs typeface="Calibri" pitchFamily="34" charset="-120"/>
              </a:rPr>
              <a:t>Why: during development the critic rejected drafts for real reasons — a bear bullet that said only “the stock is expensive”, a bear case vaguer than the bull case. Each fix moved into the writer’s prompt. The critic’s lessons migrated upstream.</a:t>
            </a:r>
            <a:endParaRPr lang="en-US" sz="1050" dirty="0"/>
          </a:p>
          <a:p>
            <a:pPr indent="0" marL="0">
              <a:buNone/>
            </a:pPr>
            <a:endParaRPr lang="en-US" sz="1050" dirty="0"/>
          </a:p>
          <a:p>
            <a:pPr indent="0" marL="0">
              <a:buNone/>
            </a:pPr>
            <a:r>
              <a:rPr lang="en-US" sz="1050" dirty="0">
                <a:solidFill>
                  <a:srgbClr val="1A2332"/>
                </a:solidFill>
                <a:latin typeface="Calibri" pitchFamily="34" charset="0"/>
                <a:ea typeface="Calibri" pitchFamily="34" charset="-122"/>
                <a:cs typeface="Calibri" pitchFamily="34" charset="-120"/>
              </a:rPr>
              <a:t>What remains is insurance: it still rejected 2 of 5 stability-arm drafts with concrete issues. Catch rate went from ~4 in 10 before prompt hardening to ~2 in 14 after.</a:t>
            </a:r>
            <a:endParaRPr lang="en-US" sz="1050" dirty="0"/>
          </a:p>
          <a:p>
            <a:pPr indent="0" marL="0">
              <a:buNone/>
            </a:pPr>
            <a:endParaRPr lang="en-US" sz="1050" dirty="0"/>
          </a:p>
          <a:p>
            <a:pPr indent="0" marL="0">
              <a:buNone/>
            </a:pPr>
            <a:r>
              <a:rPr lang="en-US" sz="1050" b="1" dirty="0">
                <a:solidFill>
                  <a:srgbClr val="1A2332"/>
                </a:solidFill>
                <a:latin typeface="Calibri" pitchFamily="34" charset="0"/>
                <a:ea typeface="Calibri" pitchFamily="34" charset="-122"/>
                <a:cs typeface="Calibri" pitchFamily="34" charset="-120"/>
              </a:rPr>
              <a:t>Decision: keep it on by default; expose --no-critic for cheap bulk screening.</a:t>
            </a:r>
            <a:endParaRPr lang="en-US" sz="1050" dirty="0"/>
          </a:p>
        </p:txBody>
      </p:sp>
      <p:sp>
        <p:nvSpPr>
          <p:cNvPr id="6" name="Shape 4"/>
          <p:cNvSpPr/>
          <p:nvPr/>
        </p:nvSpPr>
        <p:spPr>
          <a:xfrm>
            <a:off x="4617720" y="960120"/>
            <a:ext cx="4069080" cy="1097280"/>
          </a:xfrm>
          <a:prstGeom prst="roundRect">
            <a:avLst>
              <a:gd name="adj" fmla="val 6667"/>
            </a:avLst>
          </a:prstGeom>
          <a:solidFill>
            <a:srgbClr val="FFFFFF"/>
          </a:solidFill>
          <a:ln w="9525">
            <a:solidFill>
              <a:srgbClr val="D8DFE8"/>
            </a:solidFill>
            <a:prstDash val="solid"/>
          </a:ln>
        </p:spPr>
      </p:sp>
      <p:sp>
        <p:nvSpPr>
          <p:cNvPr id="7" name="Shape 5"/>
          <p:cNvSpPr/>
          <p:nvPr/>
        </p:nvSpPr>
        <p:spPr>
          <a:xfrm>
            <a:off x="4754880" y="1097280"/>
            <a:ext cx="274320" cy="274320"/>
          </a:xfrm>
          <a:prstGeom prst="ellipse">
            <a:avLst/>
          </a:prstGeom>
          <a:solidFill>
            <a:srgbClr val="C0504D"/>
          </a:solidFill>
          <a:ln w="12700">
            <a:solidFill>
              <a:srgbClr val="C0504D"/>
            </a:solidFill>
            <a:prstDash val="solid"/>
          </a:ln>
        </p:spPr>
      </p:sp>
      <p:sp>
        <p:nvSpPr>
          <p:cNvPr id="8" name="Text 6"/>
          <p:cNvSpPr/>
          <p:nvPr/>
        </p:nvSpPr>
        <p:spPr>
          <a:xfrm>
            <a:off x="4754880"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5120640" y="1069848"/>
            <a:ext cx="3474720" cy="27432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RAG index contaminated by fixture data</a:t>
            </a:r>
            <a:endParaRPr lang="en-US" sz="1200" dirty="0"/>
          </a:p>
        </p:txBody>
      </p:sp>
      <p:sp>
        <p:nvSpPr>
          <p:cNvPr id="10" name="Text 8"/>
          <p:cNvSpPr/>
          <p:nvPr/>
        </p:nvSpPr>
        <p:spPr>
          <a:xfrm>
            <a:off x="5120640" y="1344168"/>
            <a:ext cx="3474720" cy="685800"/>
          </a:xfrm>
          <a:prstGeom prst="rect">
            <a:avLst/>
          </a:prstGeom>
          <a:noFill/>
          <a:ln/>
        </p:spPr>
        <p:txBody>
          <a:bodyPr wrap="square" lIns="0" tIns="0" rIns="0" bIns="0" rtlCol="0" anchor="t"/>
          <a:lstStyle/>
          <a:p>
            <a:pPr indent="0" marL="0">
              <a:buNone/>
            </a:pPr>
            <a:r>
              <a:rPr lang="en-US" sz="950" dirty="0">
                <a:solidFill>
                  <a:srgbClr val="6B7686"/>
                </a:solidFill>
                <a:latin typeface="Calibri" pitchFamily="34" charset="0"/>
                <a:ea typeface="Calibri" pitchFamily="34" charset="-122"/>
                <a:cs typeface="Calibri" pitchFamily="34" charset="-120"/>
              </a:rPr>
              <a:t>Illustrative 10-K chunks shared IDs with the real filing; the model itself flagged ‘figures don’t reconcile’. Fix: filing-scoped chunk IDs + retrieval.</a:t>
            </a:r>
            <a:endParaRPr lang="en-US" sz="950" dirty="0"/>
          </a:p>
        </p:txBody>
      </p:sp>
      <p:sp>
        <p:nvSpPr>
          <p:cNvPr id="11" name="Shape 9"/>
          <p:cNvSpPr/>
          <p:nvPr/>
        </p:nvSpPr>
        <p:spPr>
          <a:xfrm>
            <a:off x="4617720" y="2176272"/>
            <a:ext cx="4069080" cy="1097280"/>
          </a:xfrm>
          <a:prstGeom prst="roundRect">
            <a:avLst>
              <a:gd name="adj" fmla="val 6667"/>
            </a:avLst>
          </a:prstGeom>
          <a:solidFill>
            <a:srgbClr val="FFFFFF"/>
          </a:solidFill>
          <a:ln w="9525">
            <a:solidFill>
              <a:srgbClr val="D8DFE8"/>
            </a:solidFill>
            <a:prstDash val="solid"/>
          </a:ln>
        </p:spPr>
      </p:sp>
      <p:sp>
        <p:nvSpPr>
          <p:cNvPr id="12" name="Shape 10"/>
          <p:cNvSpPr/>
          <p:nvPr/>
        </p:nvSpPr>
        <p:spPr>
          <a:xfrm>
            <a:off x="4754880" y="2313432"/>
            <a:ext cx="274320" cy="274320"/>
          </a:xfrm>
          <a:prstGeom prst="ellipse">
            <a:avLst/>
          </a:prstGeom>
          <a:solidFill>
            <a:srgbClr val="C0504D"/>
          </a:solidFill>
          <a:ln w="12700">
            <a:solidFill>
              <a:srgbClr val="C0504D"/>
            </a:solidFill>
            <a:prstDash val="solid"/>
          </a:ln>
        </p:spPr>
      </p:sp>
      <p:sp>
        <p:nvSpPr>
          <p:cNvPr id="13" name="Text 11"/>
          <p:cNvSpPr/>
          <p:nvPr/>
        </p:nvSpPr>
        <p:spPr>
          <a:xfrm>
            <a:off x="4754880" y="2313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5120640" y="2286000"/>
            <a:ext cx="3474720" cy="27432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Guardrail false positive</a:t>
            </a:r>
            <a:endParaRPr lang="en-US" sz="1200" dirty="0"/>
          </a:p>
        </p:txBody>
      </p:sp>
      <p:sp>
        <p:nvSpPr>
          <p:cNvPr id="15" name="Text 13"/>
          <p:cNvSpPr/>
          <p:nvPr/>
        </p:nvSpPr>
        <p:spPr>
          <a:xfrm>
            <a:off x="5120640" y="2560320"/>
            <a:ext cx="3474720" cy="685800"/>
          </a:xfrm>
          <a:prstGeom prst="rect">
            <a:avLst/>
          </a:prstGeom>
          <a:noFill/>
          <a:ln/>
        </p:spPr>
        <p:txBody>
          <a:bodyPr wrap="square" lIns="0" tIns="0" rIns="0" bIns="0" rtlCol="0" anchor="t"/>
          <a:lstStyle/>
          <a:p>
            <a:pPr indent="0" marL="0">
              <a:buNone/>
            </a:pPr>
            <a:r>
              <a:rPr lang="en-US" sz="950" dirty="0">
                <a:solidFill>
                  <a:srgbClr val="6B7686"/>
                </a:solidFill>
                <a:latin typeface="Calibri" pitchFamily="34" charset="0"/>
                <a:ea typeface="Calibri" pitchFamily="34" charset="-122"/>
                <a:cs typeface="Calibri" pitchFamily="34" charset="-120"/>
              </a:rPr>
              <a:t>“no guaranteed follow-through” tripped the advice filter and trapped the critic in two useless revisions. Fix: promissory-usage pattern + a test.</a:t>
            </a:r>
            <a:endParaRPr lang="en-US" sz="950" dirty="0"/>
          </a:p>
        </p:txBody>
      </p:sp>
      <p:sp>
        <p:nvSpPr>
          <p:cNvPr id="16" name="Shape 14"/>
          <p:cNvSpPr/>
          <p:nvPr/>
        </p:nvSpPr>
        <p:spPr>
          <a:xfrm>
            <a:off x="4617720" y="3392424"/>
            <a:ext cx="4069080" cy="1097280"/>
          </a:xfrm>
          <a:prstGeom prst="roundRect">
            <a:avLst>
              <a:gd name="adj" fmla="val 6667"/>
            </a:avLst>
          </a:prstGeom>
          <a:solidFill>
            <a:srgbClr val="FFFFFF"/>
          </a:solidFill>
          <a:ln w="9525">
            <a:solidFill>
              <a:srgbClr val="D8DFE8"/>
            </a:solidFill>
            <a:prstDash val="solid"/>
          </a:ln>
        </p:spPr>
      </p:sp>
      <p:sp>
        <p:nvSpPr>
          <p:cNvPr id="17" name="Shape 15"/>
          <p:cNvSpPr/>
          <p:nvPr/>
        </p:nvSpPr>
        <p:spPr>
          <a:xfrm>
            <a:off x="4754880" y="3529584"/>
            <a:ext cx="274320" cy="274320"/>
          </a:xfrm>
          <a:prstGeom prst="ellipse">
            <a:avLst/>
          </a:prstGeom>
          <a:solidFill>
            <a:srgbClr val="C0504D"/>
          </a:solidFill>
          <a:ln w="12700">
            <a:solidFill>
              <a:srgbClr val="C0504D"/>
            </a:solidFill>
            <a:prstDash val="solid"/>
          </a:ln>
        </p:spPr>
      </p:sp>
      <p:sp>
        <p:nvSpPr>
          <p:cNvPr id="18" name="Text 16"/>
          <p:cNvSpPr/>
          <p:nvPr/>
        </p:nvSpPr>
        <p:spPr>
          <a:xfrm>
            <a:off x="4754880" y="3529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5120640" y="3502152"/>
            <a:ext cx="3474720" cy="27432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Model reversed a comparison</a:t>
            </a:r>
            <a:endParaRPr lang="en-US" sz="1200" dirty="0"/>
          </a:p>
        </p:txBody>
      </p:sp>
      <p:sp>
        <p:nvSpPr>
          <p:cNvPr id="20" name="Text 18"/>
          <p:cNvSpPr/>
          <p:nvPr/>
        </p:nvSpPr>
        <p:spPr>
          <a:xfrm>
            <a:off x="5120640" y="3776472"/>
            <a:ext cx="3474720" cy="685800"/>
          </a:xfrm>
          <a:prstGeom prst="rect">
            <a:avLst/>
          </a:prstGeom>
          <a:noFill/>
          <a:ln/>
        </p:spPr>
        <p:txBody>
          <a:bodyPr wrap="square" lIns="0" tIns="0" rIns="0" bIns="0" rtlCol="0" anchor="t"/>
          <a:lstStyle/>
          <a:p>
            <a:pPr indent="0" marL="0">
              <a:buNone/>
            </a:pPr>
            <a:r>
              <a:rPr lang="en-US" sz="950" dirty="0">
                <a:solidFill>
                  <a:srgbClr val="6B7686"/>
                </a:solidFill>
                <a:latin typeface="Calibri" pitchFamily="34" charset="0"/>
                <a:ea typeface="Calibri" pitchFamily="34" charset="-122"/>
                <a:cs typeface="Calibri" pitchFamily="34" charset="-120"/>
              </a:rPr>
              <a:t>“price sits below all three scenarios” — it didn’t. Fix: that sentence is now generated by code. Principle: LLM chooses assumptions, code does arithmetic.</a:t>
            </a:r>
            <a:endParaRPr lang="en-US" sz="950" dirty="0"/>
          </a:p>
        </p:txBody>
      </p:sp>
      <p:sp>
        <p:nvSpPr>
          <p:cNvPr id="21" name="Text 19"/>
          <p:cNvSpPr/>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7686"/>
                </a:solidFill>
                <a:latin typeface="Calibri" pitchFamily="34" charset="0"/>
                <a:ea typeface="Calibri" pitchFamily="34" charset="-122"/>
                <a:cs typeface="Calibri" pitchFamily="34" charset="-120"/>
              </a:rPr>
              <a:t>The Second Opinion · Davon Crane · Building Agentic AI Systems — Final Project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640080" y="50292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What's next, and where to find it</a:t>
            </a:r>
            <a:endParaRPr lang="en-US" sz="3000" dirty="0"/>
          </a:p>
        </p:txBody>
      </p:sp>
      <p:sp>
        <p:nvSpPr>
          <p:cNvPr id="3" name="Shape 1"/>
          <p:cNvSpPr/>
          <p:nvPr/>
        </p:nvSpPr>
        <p:spPr>
          <a:xfrm>
            <a:off x="685800" y="1335024"/>
            <a:ext cx="146304" cy="146304"/>
          </a:xfrm>
          <a:prstGeom prst="ellipse">
            <a:avLst/>
          </a:prstGeom>
          <a:solidFill>
            <a:srgbClr val="B5893A"/>
          </a:solidFill>
          <a:ln w="12700">
            <a:solidFill>
              <a:srgbClr val="B5893A"/>
            </a:solidFill>
            <a:prstDash val="solid"/>
          </a:ln>
        </p:spPr>
      </p:sp>
      <p:sp>
        <p:nvSpPr>
          <p:cNvPr id="4" name="Text 2"/>
          <p:cNvSpPr/>
          <p:nvPr/>
        </p:nvSpPr>
        <p:spPr>
          <a:xfrm>
            <a:off x="960120" y="1280160"/>
            <a:ext cx="4846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5" name="Text 3"/>
          <p:cNvSpPr/>
          <p:nvPr/>
        </p:nvSpPr>
        <p:spPr>
          <a:xfrm>
            <a:off x="960120" y="1554480"/>
            <a:ext cx="4846320" cy="54864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Streamlit UI: live agent log, critic verdicts, price &amp; scenario map, follow-up questions, PDF export — cloud-deployable with a password gate</a:t>
            </a:r>
            <a:endParaRPr lang="en-US" sz="1050" dirty="0"/>
          </a:p>
        </p:txBody>
      </p:sp>
      <p:sp>
        <p:nvSpPr>
          <p:cNvPr id="6" name="Shape 4"/>
          <p:cNvSpPr/>
          <p:nvPr/>
        </p:nvSpPr>
        <p:spPr>
          <a:xfrm>
            <a:off x="685800" y="2203704"/>
            <a:ext cx="146304" cy="146304"/>
          </a:xfrm>
          <a:prstGeom prst="ellipse">
            <a:avLst/>
          </a:prstGeom>
          <a:solidFill>
            <a:srgbClr val="B5893A"/>
          </a:solidFill>
          <a:ln w="12700">
            <a:solidFill>
              <a:srgbClr val="B5893A"/>
            </a:solidFill>
            <a:prstDash val="solid"/>
          </a:ln>
        </p:spPr>
      </p:sp>
      <p:sp>
        <p:nvSpPr>
          <p:cNvPr id="7" name="Text 5"/>
          <p:cNvSpPr/>
          <p:nvPr/>
        </p:nvSpPr>
        <p:spPr>
          <a:xfrm>
            <a:off x="960120" y="2148840"/>
            <a:ext cx="4846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Future work</a:t>
            </a:r>
            <a:endParaRPr lang="en-US" sz="1400" dirty="0"/>
          </a:p>
        </p:txBody>
      </p:sp>
      <p:sp>
        <p:nvSpPr>
          <p:cNvPr id="8" name="Text 6"/>
          <p:cNvSpPr/>
          <p:nvPr/>
        </p:nvSpPr>
        <p:spPr>
          <a:xfrm>
            <a:off x="960120" y="2423160"/>
            <a:ext cx="4846320" cy="54864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X/FinTwit as a third sentiment source · 10-Q ingestion · rubric-scored critic · self-hosted deployment</a:t>
            </a:r>
            <a:endParaRPr lang="en-US" sz="1050" dirty="0"/>
          </a:p>
        </p:txBody>
      </p:sp>
      <p:sp>
        <p:nvSpPr>
          <p:cNvPr id="9" name="Shape 7"/>
          <p:cNvSpPr/>
          <p:nvPr/>
        </p:nvSpPr>
        <p:spPr>
          <a:xfrm>
            <a:off x="685800" y="3072384"/>
            <a:ext cx="146304" cy="146304"/>
          </a:xfrm>
          <a:prstGeom prst="ellipse">
            <a:avLst/>
          </a:prstGeom>
          <a:solidFill>
            <a:srgbClr val="B5893A"/>
          </a:solidFill>
          <a:ln w="12700">
            <a:solidFill>
              <a:srgbClr val="B5893A"/>
            </a:solidFill>
            <a:prstDash val="solid"/>
          </a:ln>
        </p:spPr>
      </p:sp>
      <p:sp>
        <p:nvSpPr>
          <p:cNvPr id="10" name="Text 8"/>
          <p:cNvSpPr/>
          <p:nvPr/>
        </p:nvSpPr>
        <p:spPr>
          <a:xfrm>
            <a:off x="960120" y="3017520"/>
            <a:ext cx="4846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Limitations stated</a:t>
            </a:r>
            <a:endParaRPr lang="en-US" sz="1400" dirty="0"/>
          </a:p>
        </p:txBody>
      </p:sp>
      <p:sp>
        <p:nvSpPr>
          <p:cNvPr id="11" name="Text 9"/>
          <p:cNvSpPr/>
          <p:nvPr/>
        </p:nvSpPr>
        <p:spPr>
          <a:xfrm>
            <a:off x="960120" y="3291840"/>
            <a:ext cx="4846320" cy="54864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P/E scenarios don’t apply to loss-makers (declined, not forced) · weights measured for stability, not validated as forecasts · yfinance/StockTwits coverage varies</a:t>
            </a:r>
            <a:endParaRPr lang="en-US" sz="1050" dirty="0"/>
          </a:p>
        </p:txBody>
      </p:sp>
      <p:sp>
        <p:nvSpPr>
          <p:cNvPr id="12" name="Shape 10"/>
          <p:cNvSpPr/>
          <p:nvPr/>
        </p:nvSpPr>
        <p:spPr>
          <a:xfrm>
            <a:off x="6126480" y="1280160"/>
            <a:ext cx="2560320" cy="2514600"/>
          </a:xfrm>
          <a:prstGeom prst="roundRect">
            <a:avLst>
              <a:gd name="adj" fmla="val 3636"/>
            </a:avLst>
          </a:prstGeom>
          <a:solidFill>
            <a:srgbClr val="1F4368"/>
          </a:solidFill>
          <a:ln w="12700">
            <a:solidFill>
              <a:srgbClr val="1F4368"/>
            </a:solidFill>
            <a:prstDash val="solid"/>
          </a:ln>
        </p:spPr>
      </p:sp>
      <p:sp>
        <p:nvSpPr>
          <p:cNvPr id="13" name="Text 11"/>
          <p:cNvSpPr/>
          <p:nvPr/>
        </p:nvSpPr>
        <p:spPr>
          <a:xfrm>
            <a:off x="6309360" y="1371600"/>
            <a:ext cx="2194560" cy="274320"/>
          </a:xfrm>
          <a:prstGeom prst="rect">
            <a:avLst/>
          </a:prstGeom>
          <a:noFill/>
          <a:ln/>
        </p:spPr>
        <p:txBody>
          <a:bodyPr wrap="square" lIns="0" tIns="0" rIns="0" bIns="0" rtlCol="0" anchor="ctr"/>
          <a:lstStyle/>
          <a:p>
            <a:pPr indent="0" marL="0">
              <a:buNone/>
            </a:pPr>
            <a:r>
              <a:rPr lang="en-US" sz="1100" b="1" dirty="0">
                <a:solidFill>
                  <a:srgbClr val="B5893A"/>
                </a:solidFill>
                <a:latin typeface="Calibri" pitchFamily="34" charset="0"/>
                <a:ea typeface="Calibri" pitchFamily="34" charset="-122"/>
                <a:cs typeface="Calibri" pitchFamily="34" charset="-120"/>
              </a:rPr>
              <a:t>Repository</a:t>
            </a:r>
            <a:endParaRPr lang="en-US" sz="1100" dirty="0"/>
          </a:p>
        </p:txBody>
      </p:sp>
      <p:sp>
        <p:nvSpPr>
          <p:cNvPr id="14" name="Text 12"/>
          <p:cNvSpPr/>
          <p:nvPr/>
        </p:nvSpPr>
        <p:spPr>
          <a:xfrm>
            <a:off x="6309360" y="1645920"/>
            <a:ext cx="219456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github.com/DavonCrane/</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second-opinion</a:t>
            </a:r>
            <a:endParaRPr lang="en-US" sz="1150" dirty="0"/>
          </a:p>
        </p:txBody>
      </p:sp>
      <p:sp>
        <p:nvSpPr>
          <p:cNvPr id="15" name="Text 13"/>
          <p:cNvSpPr/>
          <p:nvPr/>
        </p:nvSpPr>
        <p:spPr>
          <a:xfrm>
            <a:off x="6309360" y="2194560"/>
            <a:ext cx="2194560" cy="1463040"/>
          </a:xfrm>
          <a:prstGeom prst="rect">
            <a:avLst/>
          </a:prstGeom>
          <a:noFill/>
          <a:ln/>
        </p:spPr>
        <p:txBody>
          <a:bodyPr wrap="square" lIns="0" tIns="0" rIns="0" bIns="0" rtlCol="0" anchor="t"/>
          <a:lstStyle/>
          <a:p>
            <a:pPr indent="0" marL="0">
              <a:spcAft>
                <a:spcPts val="300"/>
              </a:spcAft>
              <a:buNone/>
            </a:pPr>
            <a:r>
              <a:rPr lang="en-US" sz="1000" dirty="0">
                <a:solidFill>
                  <a:srgbClr val="CADCFC"/>
                </a:solidFill>
                <a:latin typeface="Calibri" pitchFamily="34" charset="0"/>
                <a:ea typeface="Calibri" pitchFamily="34" charset="-122"/>
                <a:cs typeface="Calibri" pitchFamily="34" charset="-120"/>
              </a:rPr>
              <a:t>README — run it from scratch</a:t>
            </a:r>
            <a:endParaRPr lang="en-US" sz="1000" dirty="0"/>
          </a:p>
          <a:p>
            <a:pPr indent="0" marL="0">
              <a:spcAft>
                <a:spcPts val="300"/>
              </a:spcAft>
              <a:buNone/>
            </a:pPr>
            <a:r>
              <a:rPr lang="en-US" sz="1000" dirty="0">
                <a:solidFill>
                  <a:srgbClr val="CADCFC"/>
                </a:solidFill>
                <a:latin typeface="Calibri" pitchFamily="34" charset="0"/>
                <a:ea typeface="Calibri" pitchFamily="34" charset="-122"/>
                <a:cs typeface="Calibri" pitchFamily="34" charset="-120"/>
              </a:rPr>
              <a:t>docs/architecture.md</a:t>
            </a:r>
            <a:endParaRPr lang="en-US" sz="1000" dirty="0"/>
          </a:p>
          <a:p>
            <a:pPr indent="0" marL="0">
              <a:spcAft>
                <a:spcPts val="300"/>
              </a:spcAft>
              <a:buNone/>
            </a:pPr>
            <a:r>
              <a:rPr lang="en-US" sz="1000" dirty="0">
                <a:solidFill>
                  <a:srgbClr val="CADCFC"/>
                </a:solidFill>
                <a:latin typeface="Calibri" pitchFamily="34" charset="0"/>
                <a:ea typeface="Calibri" pitchFamily="34" charset="-122"/>
                <a:cs typeface="Calibri" pitchFamily="34" charset="-120"/>
              </a:rPr>
              <a:t>eval/eval_report.md</a:t>
            </a:r>
            <a:endParaRPr lang="en-US" sz="1000" dirty="0"/>
          </a:p>
          <a:p>
            <a:pPr indent="0" marL="0">
              <a:spcAft>
                <a:spcPts val="300"/>
              </a:spcAft>
              <a:buNone/>
            </a:pPr>
            <a:r>
              <a:rPr lang="en-US" sz="1000" dirty="0">
                <a:solidFill>
                  <a:srgbClr val="CADCFC"/>
                </a:solidFill>
                <a:latin typeface="Calibri" pitchFamily="34" charset="0"/>
                <a:ea typeface="Calibri" pitchFamily="34" charset="-122"/>
                <a:cs typeface="Calibri" pitchFamily="34" charset="-120"/>
              </a:rPr>
              <a:t>27 tests · pytest</a:t>
            </a:r>
            <a:endParaRPr lang="en-US" sz="1000" dirty="0"/>
          </a:p>
          <a:p>
            <a:pPr indent="0" marL="0">
              <a:spcAft>
                <a:spcPts val="300"/>
              </a:spcAft>
              <a:buNone/>
            </a:pPr>
            <a:r>
              <a:rPr lang="en-US" sz="1000" dirty="0">
                <a:solidFill>
                  <a:srgbClr val="CADCFC"/>
                </a:solidFill>
                <a:latin typeface="Calibri" pitchFamily="34" charset="0"/>
                <a:ea typeface="Calibri" pitchFamily="34" charset="-122"/>
                <a:cs typeface="Calibri" pitchFamily="34" charset="-120"/>
              </a:rPr>
              <a:t>tag: final-submission</a:t>
            </a:r>
            <a:endParaRPr lang="en-US" sz="1000" dirty="0"/>
          </a:p>
        </p:txBody>
      </p:sp>
      <p:sp>
        <p:nvSpPr>
          <p:cNvPr id="16" name="Text 14"/>
          <p:cNvSpPr/>
          <p:nvPr/>
        </p:nvSpPr>
        <p:spPr>
          <a:xfrm>
            <a:off x="640080" y="4160520"/>
            <a:ext cx="786384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Not investment advice. A research-synthesis tool that reads public sources and cites them.</a:t>
            </a:r>
            <a:endParaRPr lang="en-US" sz="1000" dirty="0"/>
          </a:p>
        </p:txBody>
      </p:sp>
      <p:sp>
        <p:nvSpPr>
          <p:cNvPr id="17" name="Text 15"/>
          <p:cNvSpPr/>
          <p:nvPr/>
        </p:nvSpPr>
        <p:spPr>
          <a:xfrm>
            <a:off x="640080" y="4480560"/>
            <a:ext cx="7863840" cy="320040"/>
          </a:xfrm>
          <a:prstGeom prst="rect">
            <a:avLst/>
          </a:prstGeom>
          <a:noFill/>
          <a:ln/>
        </p:spPr>
        <p:txBody>
          <a:bodyPr wrap="square" lIns="0" tIns="0" rIns="0" bIns="0" rtlCol="0" anchor="ctr"/>
          <a:lstStyle/>
          <a:p>
            <a:pPr indent="0" marL="0">
              <a:buNone/>
            </a:pPr>
            <a:r>
              <a:rPr lang="en-US" sz="1600" b="1" dirty="0">
                <a:solidFill>
                  <a:srgbClr val="B5893A"/>
                </a:solidFill>
                <a:latin typeface="Cambria" pitchFamily="34" charset="0"/>
                <a:ea typeface="Cambria" pitchFamily="34" charset="-122"/>
                <a:cs typeface="Cambria" pitchFamily="34" charset="-120"/>
              </a:rPr>
              <a:t>Thank you — Davon Crane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2026-08-22T12:12:27Z</dcterms:created>
  <dcterms:modified xsi:type="dcterms:W3CDTF">2026-08-22T12:12:27Z</dcterms:modified>
</cp:coreProperties>
</file>